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77" r:id="rId5"/>
    <p:sldId id="270" r:id="rId6"/>
    <p:sldId id="292" r:id="rId7"/>
    <p:sldId id="293" r:id="rId8"/>
    <p:sldId id="294" r:id="rId9"/>
    <p:sldId id="264" r:id="rId10"/>
    <p:sldId id="320" r:id="rId11"/>
    <p:sldId id="274" r:id="rId12"/>
    <p:sldId id="322" r:id="rId13"/>
    <p:sldId id="323" r:id="rId14"/>
    <p:sldId id="287" r:id="rId15"/>
    <p:sldId id="289" r:id="rId16"/>
    <p:sldId id="291" r:id="rId17"/>
    <p:sldId id="312" r:id="rId18"/>
    <p:sldId id="290" r:id="rId19"/>
    <p:sldId id="296" r:id="rId20"/>
    <p:sldId id="308" r:id="rId21"/>
    <p:sldId id="299" r:id="rId22"/>
    <p:sldId id="310" r:id="rId23"/>
    <p:sldId id="300" r:id="rId24"/>
    <p:sldId id="316" r:id="rId25"/>
    <p:sldId id="317" r:id="rId26"/>
    <p:sldId id="318" r:id="rId27"/>
    <p:sldId id="319" r:id="rId28"/>
    <p:sldId id="321" r:id="rId29"/>
    <p:sldId id="313" r:id="rId30"/>
    <p:sldId id="32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BC891B-1B88-4EC7-1D9E-531D25E81BA9}" v="4" dt="2025-09-09T20:58:02.918"/>
    <p1510:client id="{4F7A6A3F-CA5B-1076-FFA5-10C723509719}" v="7" dt="2025-09-10T04:40:05.424"/>
    <p1510:client id="{5E6F2F78-8426-493C-96A8-C67467922191}" v="278" dt="2025-09-10T04:32:59.674"/>
    <p1510:client id="{6CE4C00D-67FD-1D54-D36A-52EF4CE7114D}" v="158" dt="2025-09-10T03:01:00.888"/>
    <p1510:client id="{9A02E486-4B2F-1CA8-920C-D2DD1CA6F12D}" v="781" dt="2025-09-09T20:43:30.809"/>
    <p1510:client id="{9CA8DC68-55FA-2320-E02F-F3B39CED7C04}" v="12" dt="2025-09-10T02:27:53.416"/>
    <p1510:client id="{A0023DF1-ACA5-946D-2DD9-33F6F532AEBA}" v="854" dt="2025-09-09T22:55:54.403"/>
    <p1510:client id="{A26633B7-C8CC-1EC5-22E4-9B07888A492E}" v="1219" dt="2025-09-09T19:13:17.353"/>
    <p1510:client id="{BA16E6E3-A2AF-927F-38D8-8F9DFBC4369C}" v="95" dt="2025-09-10T04:50:08.221"/>
    <p1510:client id="{BE67CBAE-9A4A-CA17-16C9-A38E223A403F}" v="357" dt="2025-09-09T18:13:16.786"/>
    <p1510:client id="{D8B973A1-AA1C-3603-8C90-005665B606A8}" v="8" dt="2025-09-10T04:19:12.626"/>
    <p1510:client id="{F51C3A4B-0BBD-1246-A48E-454930D4E28D}" v="143" dt="2025-09-09T15:31:58.724"/>
    <p1510:client id="{FE223430-8922-04C8-0501-68C55FBF7DFD}" v="128" dt="2025-09-10T01:31:55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1/5/2026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analysiswithpython.tistory.com/entry/PyTorch-4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ochobitshacenunbyte.com/2015/07/06/tareas-basicas-mysql/" TargetMode="External"/><Relationship Id="rId5" Type="http://schemas.openxmlformats.org/officeDocument/2006/relationships/image" Target="../media/image13.jpe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folder with a lock&#10;&#10;AI-generated content may be incorrect.">
            <a:extLst>
              <a:ext uri="{FF2B5EF4-FFF2-40B4-BE49-F238E27FC236}">
                <a16:creationId xmlns:a16="http://schemas.microsoft.com/office/drawing/2014/main" id="{EF7DBD87-3D59-454B-79FA-FCB2FDB82C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475E098-F3D0-453C-BBF5-A7C840F21F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>
                <a:latin typeface="Adobe Devanagari"/>
              </a:rPr>
              <a:t>SafeLAN</a:t>
            </a:r>
            <a:r>
              <a:rPr lang="en-US">
                <a:latin typeface="Adobe Devanagari"/>
              </a:rPr>
              <a:t>: Adaptive Secure File System for LAN environment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8F3F03-40A0-499D-BDCC-A8E886D9D7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25-26J-067 </a:t>
            </a:r>
          </a:p>
        </p:txBody>
      </p:sp>
    </p:spTree>
    <p:extLst>
      <p:ext uri="{BB962C8B-B14F-4D97-AF65-F5344CB8AC3E}">
        <p14:creationId xmlns:p14="http://schemas.microsoft.com/office/powerpoint/2010/main" val="381388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FCB7-EC63-495B-9ED3-9E3A0892B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639380"/>
            <a:ext cx="10363200" cy="1470025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BE3555-8168-4DEE-B3B9-3186A75E1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2628462"/>
            <a:ext cx="8534400" cy="12931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err="1">
                <a:solidFill>
                  <a:schemeClr val="tx1"/>
                </a:solidFill>
                <a:ea typeface="Cambria"/>
              </a:rPr>
              <a:t>SafeLAN</a:t>
            </a:r>
            <a:r>
              <a:rPr lang="en-US" sz="2000" b="1">
                <a:solidFill>
                  <a:schemeClr val="tx1"/>
                </a:solidFill>
                <a:ea typeface="Cambria"/>
              </a:rPr>
              <a:t> is a  secure file system that will utilize advanced mechanisms such as keystroke dynamics, mouse movements, blockchain technology to improve the current security state of file systems.</a:t>
            </a:r>
            <a:endParaRPr lang="en-US">
              <a:solidFill>
                <a:schemeClr val="tx1"/>
              </a:solidFill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150955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F7F82-193C-DA2B-8014-68ED2C99B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EB7BB-9885-B8ED-C077-4007ABDAA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470647"/>
            <a:ext cx="10363200" cy="1470025"/>
          </a:xfrm>
        </p:spPr>
        <p:txBody>
          <a:bodyPr/>
          <a:lstStyle/>
          <a:p>
            <a:r>
              <a:rPr lang="en-US"/>
              <a:t>Research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982F86-15E6-BAA5-FCDD-9EC89999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032" y="1830427"/>
            <a:ext cx="10820399" cy="414420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Existing LAN-based file systems rely on traditional authentication methods or OS-level permissions, which provide only one-time authentication. They lack integrated mechanisms for real-time anomaly detection.</a:t>
            </a:r>
            <a:endParaRPr lang="en-US" sz="2000" b="1" u="sng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pPr algn="l"/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They lack continuous and dynamic identity verification, leaving systems vulnerable to insider threats, hijacking, and misuse after login.</a:t>
            </a:r>
            <a:endParaRPr lang="en-US" sz="2000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>
              <a:solidFill>
                <a:schemeClr val="tx1"/>
              </a:solidFill>
              <a:ea typeface="Cambria"/>
            </a:endParaRPr>
          </a:p>
          <a:p>
            <a:pPr algn="l"/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File access logs are often local, alterable, and non-transparent, making post-incident investigations difficult.</a:t>
            </a:r>
            <a:endParaRPr lang="en-US" sz="2000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>
              <a:solidFill>
                <a:schemeClr val="tx1"/>
              </a:solidFill>
              <a:ea typeface="Cambria"/>
            </a:endParaRPr>
          </a:p>
          <a:p>
            <a:pPr algn="l"/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Many advanced security features today are internet or cloud-dependent. As a result, LAN only environments are left with weaker protections.</a:t>
            </a:r>
            <a:endParaRPr lang="en-US">
              <a:solidFill>
                <a:schemeClr val="tx1"/>
              </a:solidFill>
            </a:endParaRPr>
          </a:p>
          <a:p>
            <a:pPr marL="342900" indent="-342900" algn="l">
              <a:buChar char="•"/>
            </a:pPr>
            <a:endParaRPr lang="en-US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828292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FFD0-FBB5-7CAC-68FE-4AF21DFDA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34F1-FE4E-AD09-6AF4-7DEBC37F6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665655"/>
            <a:ext cx="10363200" cy="1470025"/>
          </a:xfrm>
        </p:spPr>
        <p:txBody>
          <a:bodyPr/>
          <a:lstStyle/>
          <a:p>
            <a:r>
              <a:rPr lang="en-US"/>
              <a:t>Research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1F4B05-5DFA-AF41-0623-5EE04DF34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6124" y="2736657"/>
            <a:ext cx="6237195" cy="11250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solidFill>
                  <a:schemeClr val="tx1"/>
                </a:solidFill>
                <a:ea typeface="Cambria"/>
              </a:rPr>
              <a:t>To build a secure </a:t>
            </a:r>
            <a:r>
              <a:rPr lang="en-US" sz="2000">
                <a:solidFill>
                  <a:schemeClr val="tx1"/>
                </a:solidFill>
                <a:ea typeface="Cambria"/>
              </a:rPr>
              <a:t>desktop-based</a:t>
            </a: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2000" b="1">
                <a:solidFill>
                  <a:schemeClr val="tx1"/>
                </a:solidFill>
                <a:ea typeface="+mn-lt"/>
                <a:cs typeface="+mn-lt"/>
              </a:rPr>
              <a:t>file management</a:t>
            </a: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 system </a:t>
            </a:r>
            <a:r>
              <a:rPr lang="en-US" sz="2000">
                <a:solidFill>
                  <a:schemeClr val="tx1"/>
                </a:solidFill>
                <a:ea typeface="Cambria"/>
              </a:rPr>
              <a:t>for</a:t>
            </a:r>
            <a:r>
              <a:rPr lang="en-US" sz="2000" b="1">
                <a:solidFill>
                  <a:schemeClr val="tx1"/>
                </a:solidFill>
                <a:ea typeface="Cambria"/>
              </a:rPr>
              <a:t> Local Area Network </a:t>
            </a:r>
            <a:r>
              <a:rPr lang="en-US" sz="2000">
                <a:solidFill>
                  <a:schemeClr val="tx1"/>
                </a:solidFill>
                <a:ea typeface="Cambria"/>
              </a:rPr>
              <a:t>environments.</a:t>
            </a:r>
            <a:endParaRPr lang="en-US">
              <a:solidFill>
                <a:schemeClr val="tx1"/>
              </a:solidFill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443309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7181D-9318-27CB-0648-0EF69B713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8EF9-6EEF-8493-D1C5-282616F6C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470114"/>
            <a:ext cx="10363200" cy="1470025"/>
          </a:xfrm>
        </p:spPr>
        <p:txBody>
          <a:bodyPr/>
          <a:lstStyle/>
          <a:p>
            <a:r>
              <a:rPr lang="en-US"/>
              <a:t>System Diagram</a:t>
            </a:r>
          </a:p>
        </p:txBody>
      </p:sp>
      <p:pic>
        <p:nvPicPr>
          <p:cNvPr id="4" name="Picture 3" descr="A diagram of a system&#10;&#10;AI-generated content may be incorrect.">
            <a:extLst>
              <a:ext uri="{FF2B5EF4-FFF2-40B4-BE49-F238E27FC236}">
                <a16:creationId xmlns:a16="http://schemas.microsoft.com/office/drawing/2014/main" id="{3AC2A294-226B-47F9-2B88-E1E721B7AE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31" t="-496" r="14521" b="1428"/>
          <a:stretch>
            <a:fillRect/>
          </a:stretch>
        </p:blipFill>
        <p:spPr>
          <a:xfrm rot="5400000">
            <a:off x="3737753" y="-242681"/>
            <a:ext cx="4710012" cy="83918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4253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2539294"/>
            <a:ext cx="9881476" cy="1852557"/>
          </a:xfrm>
        </p:spPr>
        <p:txBody>
          <a:bodyPr/>
          <a:lstStyle/>
          <a:p>
            <a:r>
              <a:rPr lang="pt-BR" b="0">
                <a:latin typeface="Adobe Devanagari"/>
              </a:rPr>
              <a:t>BEHAVIOURAL BIOMETRICS-BASED ADAPTIVE AUTHENTICATION MODULE FOR </a:t>
            </a:r>
            <a:r>
              <a:rPr lang="pt-BR" b="0" err="1">
                <a:latin typeface="Adobe Devanagari"/>
              </a:rPr>
              <a:t>safELAN</a:t>
            </a:r>
            <a:r>
              <a:rPr lang="pt-BR" b="0">
                <a:latin typeface="Adobe Devanagari"/>
              </a:rPr>
              <a:t> </a:t>
            </a:r>
            <a:endParaRPr lang="en-US" b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IT22328298</a:t>
            </a:r>
            <a:r>
              <a:rPr lang="en-US" sz="1800">
                <a:solidFill>
                  <a:schemeClr val="tx1"/>
                </a:solidFill>
              </a:rPr>
              <a:t>   </a:t>
            </a:r>
            <a:r>
              <a:rPr lang="en-US">
                <a:solidFill>
                  <a:schemeClr val="tx1"/>
                </a:solidFill>
              </a:rPr>
              <a:t>| </a:t>
            </a:r>
            <a:r>
              <a:rPr lang="en-US" b="1" err="1">
                <a:solidFill>
                  <a:schemeClr val="tx1"/>
                </a:solidFill>
              </a:rPr>
              <a:t>Waidyarathne</a:t>
            </a:r>
            <a:r>
              <a:rPr lang="en-US" b="1">
                <a:solidFill>
                  <a:schemeClr val="tx1"/>
                </a:solidFill>
              </a:rPr>
              <a:t> U H A P G</a:t>
            </a:r>
            <a:r>
              <a:rPr lang="en-US" sz="1800" b="1">
                <a:solidFill>
                  <a:schemeClr val="tx1"/>
                </a:solidFill>
              </a:rPr>
              <a:t>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25-26J-067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202987B-F3BE-60A1-C6B2-6F2029593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4666434"/>
            <a:ext cx="10363200" cy="944339"/>
          </a:xfrm>
        </p:spPr>
        <p:txBody>
          <a:bodyPr/>
          <a:lstStyle/>
          <a:p>
            <a:r>
              <a:rPr lang="en-US"/>
              <a:t>BSC (HONS) DEGREE IN INFORMATION TECHNOLOGY (SPECIALIZATION IN </a:t>
            </a:r>
          </a:p>
          <a:p>
            <a:r>
              <a:rPr lang="en-US"/>
              <a:t>CYBER SECURITY)</a:t>
            </a:r>
            <a:endParaRPr lang="en-US">
              <a:ea typeface="Cambria"/>
            </a:endParaRPr>
          </a:p>
        </p:txBody>
      </p:sp>
      <p:pic>
        <p:nvPicPr>
          <p:cNvPr id="3" name="Picture 2" descr="A person with her arms crossed&#10;&#10;AI-generated content may be incorrect.">
            <a:extLst>
              <a:ext uri="{FF2B5EF4-FFF2-40B4-BE49-F238E27FC236}">
                <a16:creationId xmlns:a16="http://schemas.microsoft.com/office/drawing/2014/main" id="{6D7D5079-22DA-C9C8-EA45-00BA293E5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896" y="135050"/>
            <a:ext cx="2012623" cy="233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F4D89-CD1C-1A19-A02D-8EEE7728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110F2E-1F39-43D3-12A9-FEE276FB912C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IT22328298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b="1" err="1">
                <a:solidFill>
                  <a:schemeClr val="tx1"/>
                </a:solidFill>
              </a:rPr>
              <a:t>Waidyarathne</a:t>
            </a:r>
            <a:r>
              <a:rPr lang="en-US" b="1">
                <a:solidFill>
                  <a:schemeClr val="tx1"/>
                </a:solidFill>
              </a:rPr>
              <a:t> U H A P G 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25-26J-067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85B35D7F-B5F8-2DD7-67E8-0701F6C03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701" y="132235"/>
            <a:ext cx="10467583" cy="1423625"/>
          </a:xfrm>
        </p:spPr>
        <p:txBody>
          <a:bodyPr>
            <a:normAutofit/>
          </a:bodyPr>
          <a:lstStyle/>
          <a:p>
            <a:r>
              <a:rPr lang="pt-BR" sz="3600" err="1">
                <a:latin typeface="Adobe Devanagari"/>
              </a:rPr>
              <a:t>Behavioural</a:t>
            </a:r>
            <a:r>
              <a:rPr lang="pt-BR" sz="3600">
                <a:latin typeface="Adobe Devanagari"/>
              </a:rPr>
              <a:t> </a:t>
            </a:r>
            <a:r>
              <a:rPr lang="pt-BR" sz="3600" err="1">
                <a:latin typeface="Adobe Devanagari"/>
              </a:rPr>
              <a:t>Biometrics-Based</a:t>
            </a:r>
            <a:r>
              <a:rPr lang="pt-BR" sz="3600">
                <a:latin typeface="Adobe Devanagari"/>
              </a:rPr>
              <a:t> </a:t>
            </a:r>
            <a:r>
              <a:rPr lang="pt-BR" sz="3600" err="1">
                <a:latin typeface="Adobe Devanagari"/>
              </a:rPr>
              <a:t>Adaptive</a:t>
            </a:r>
            <a:r>
              <a:rPr lang="pt-BR" sz="3600">
                <a:latin typeface="Adobe Devanagari"/>
              </a:rPr>
              <a:t> </a:t>
            </a:r>
            <a:r>
              <a:rPr lang="pt-BR" sz="3600" err="1">
                <a:latin typeface="Adobe Devanagari"/>
              </a:rPr>
              <a:t>Authentication</a:t>
            </a:r>
            <a:r>
              <a:rPr lang="pt-BR" sz="3600">
                <a:latin typeface="Adobe Devanagari"/>
              </a:rPr>
              <a:t> Module for </a:t>
            </a:r>
            <a:r>
              <a:rPr lang="pt-BR" sz="3600" err="1">
                <a:latin typeface="Adobe Devanagari"/>
              </a:rPr>
              <a:t>SafeLAN</a:t>
            </a:r>
            <a:endParaRPr lang="en-US" err="1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DA53E29-0E0B-0CD6-B414-2841D820B65A}"/>
              </a:ext>
            </a:extLst>
          </p:cNvPr>
          <p:cNvSpPr txBox="1">
            <a:spLocks/>
          </p:cNvSpPr>
          <p:nvPr/>
        </p:nvSpPr>
        <p:spPr>
          <a:xfrm>
            <a:off x="963083" y="1714299"/>
            <a:ext cx="10363200" cy="18000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ea typeface="+mn-lt"/>
                <a:cs typeface="+mn-lt"/>
              </a:rPr>
              <a:t>Problem:</a:t>
            </a:r>
            <a:r>
              <a:rPr lang="en-US" sz="1800">
                <a:ea typeface="+mn-lt"/>
                <a:cs typeface="+mn-lt"/>
              </a:rPr>
              <a:t> Current LAN file systems rely only on static password logins.</a:t>
            </a:r>
          </a:p>
          <a:p>
            <a:r>
              <a:rPr lang="en-US" sz="1800" b="1">
                <a:ea typeface="+mn-lt"/>
                <a:cs typeface="+mn-lt"/>
              </a:rPr>
              <a:t>Solution:</a:t>
            </a:r>
            <a:r>
              <a:rPr lang="en-US" sz="1800" b="1"/>
              <a:t> </a:t>
            </a:r>
            <a:r>
              <a:rPr lang="en-US" sz="1800">
                <a:ea typeface="+mn-lt"/>
                <a:cs typeface="+mn-lt"/>
              </a:rPr>
              <a:t>Module verifies users via keystroke dynamics of credentials at login, creating a   </a:t>
            </a:r>
            <a:r>
              <a:rPr lang="en-US" sz="1800" err="1">
                <a:ea typeface="+mn-lt"/>
                <a:cs typeface="+mn-lt"/>
              </a:rPr>
              <a:t>behavioural</a:t>
            </a:r>
            <a:r>
              <a:rPr lang="en-US" sz="1800">
                <a:ea typeface="+mn-lt"/>
                <a:cs typeface="+mn-lt"/>
              </a:rPr>
              <a:t> signature with the use of a trust score to strengthen the system access security.</a:t>
            </a:r>
          </a:p>
          <a:p>
            <a:endParaRPr lang="en-US" sz="800">
              <a:ea typeface="Cambria"/>
            </a:endParaRPr>
          </a:p>
          <a:p>
            <a:r>
              <a:rPr lang="en-US" sz="1800" b="1">
                <a:ea typeface="Cambria"/>
              </a:rPr>
              <a:t>Benefits</a:t>
            </a:r>
            <a:r>
              <a:rPr lang="en-US" sz="1800">
                <a:ea typeface="Cambria"/>
              </a:rPr>
              <a:t>: Reduces unauthorized access risk, mitigates insider threats, and strengthens security at the entry point of the LAN system.</a:t>
            </a:r>
          </a:p>
        </p:txBody>
      </p:sp>
      <p:sp>
        <p:nvSpPr>
          <p:cNvPr id="3" name="Callout: Right Arrow 2">
            <a:extLst>
              <a:ext uri="{FF2B5EF4-FFF2-40B4-BE49-F238E27FC236}">
                <a16:creationId xmlns:a16="http://schemas.microsoft.com/office/drawing/2014/main" id="{53A9D8FE-F079-EA0B-EC5A-CEA696CFAEF3}"/>
              </a:ext>
            </a:extLst>
          </p:cNvPr>
          <p:cNvSpPr/>
          <p:nvPr/>
        </p:nvSpPr>
        <p:spPr>
          <a:xfrm>
            <a:off x="1166949" y="3935698"/>
            <a:ext cx="5269230" cy="2310799"/>
          </a:xfrm>
          <a:prstGeom prst="rightArrowCallou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❌ Current Shortcomings</a:t>
            </a:r>
            <a:endParaRPr lang="en-US" b="1">
              <a:solidFill>
                <a:schemeClr val="tx1"/>
              </a:solidFill>
              <a:ea typeface="Cambria"/>
            </a:endParaRPr>
          </a:p>
          <a:p>
            <a:endParaRPr lang="en-US" sz="1600" b="1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spcAft>
                <a:spcPts val="200"/>
              </a:spcAft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Only checked once at login.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spcAft>
                <a:spcPts val="200"/>
              </a:spcAft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Anyone with stolen credentials can enter.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spcAft>
                <a:spcPts val="200"/>
              </a:spcAft>
              <a:buFont typeface="Arial"/>
              <a:buChar char="•"/>
            </a:pPr>
            <a:r>
              <a:rPr lang="en-US">
                <a:solidFill>
                  <a:schemeClr val="tx1"/>
                </a:solidFill>
              </a:rPr>
              <a:t>No </a:t>
            </a:r>
            <a:r>
              <a:rPr lang="en-US" err="1">
                <a:solidFill>
                  <a:schemeClr val="tx1"/>
                </a:solidFill>
              </a:rPr>
              <a:t>behavioural</a:t>
            </a:r>
            <a:r>
              <a:rPr lang="en-US">
                <a:solidFill>
                  <a:schemeClr val="tx1"/>
                </a:solidFill>
              </a:rPr>
              <a:t> analysis.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spcAft>
                <a:spcPts val="200"/>
              </a:spcAft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Vulnerable to credential theft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algn="ctr"/>
            <a:endParaRPr lang="en-US">
              <a:solidFill>
                <a:srgbClr val="FFFFFF"/>
              </a:solidFill>
              <a:ea typeface="Cambri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84331E-5AF3-9429-4BD3-04FD52AFD85E}"/>
              </a:ext>
            </a:extLst>
          </p:cNvPr>
          <p:cNvSpPr/>
          <p:nvPr/>
        </p:nvSpPr>
        <p:spPr>
          <a:xfrm>
            <a:off x="6854522" y="3935698"/>
            <a:ext cx="4170529" cy="23107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b="1">
              <a:solidFill>
                <a:schemeClr val="tx1"/>
              </a:solidFill>
            </a:endParaRPr>
          </a:p>
          <a:p>
            <a:endParaRPr lang="en-US" b="1">
              <a:solidFill>
                <a:schemeClr val="tx1"/>
              </a:solidFill>
            </a:endParaRPr>
          </a:p>
          <a:p>
            <a:endParaRPr lang="en-US" b="1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</a:pPr>
            <a:r>
              <a:rPr lang="en-US" b="1">
                <a:solidFill>
                  <a:schemeClr val="tx1"/>
                </a:solidFill>
              </a:rPr>
              <a:t>✅ Our Solutions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>
              <a:spcAft>
                <a:spcPts val="200"/>
              </a:spcAft>
            </a:pPr>
            <a:endParaRPr lang="en-US" sz="1600" b="1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spcAft>
                <a:spcPts val="200"/>
              </a:spcAft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Verifies typing style of entered credentials.</a:t>
            </a:r>
            <a:endParaRPr lang="en-US" sz="1600" b="1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spcAft>
                <a:spcPts val="200"/>
              </a:spcAft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Grants access only if typing matches user’s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behaviour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.</a:t>
            </a:r>
          </a:p>
          <a:p>
            <a:pPr marL="285750" indent="-285750">
              <a:spcAft>
                <a:spcPts val="200"/>
              </a:spcAft>
              <a:buFont typeface="Arial"/>
              <a:buChar char="•"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Stops unauthorized logins even with stolen passwords.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  <a:ea typeface="Cambria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24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D9F080-0780-4554-8055-A289E0D4EDA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IT22328298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b="1" err="1">
                <a:solidFill>
                  <a:schemeClr val="tx1"/>
                </a:solidFill>
              </a:rPr>
              <a:t>Waidyarathne</a:t>
            </a:r>
            <a:r>
              <a:rPr lang="en-US" b="1">
                <a:solidFill>
                  <a:schemeClr val="tx1"/>
                </a:solidFill>
              </a:rPr>
              <a:t> U H A P G 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25-26J-067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A3D5D2C9-E033-6124-5B8C-DCB148E39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016" y="132235"/>
            <a:ext cx="10436268" cy="1423625"/>
          </a:xfrm>
        </p:spPr>
        <p:txBody>
          <a:bodyPr>
            <a:normAutofit/>
          </a:bodyPr>
          <a:lstStyle/>
          <a:p>
            <a:r>
              <a:rPr lang="pt-BR" sz="3600" err="1">
                <a:latin typeface="Adobe Devanagari"/>
              </a:rPr>
              <a:t>Behavioural</a:t>
            </a:r>
            <a:r>
              <a:rPr lang="pt-BR" sz="3600">
                <a:latin typeface="Adobe Devanagari"/>
              </a:rPr>
              <a:t> </a:t>
            </a:r>
            <a:r>
              <a:rPr lang="pt-BR" sz="3600" err="1">
                <a:latin typeface="Adobe Devanagari"/>
              </a:rPr>
              <a:t>Biometrics-Based</a:t>
            </a:r>
            <a:r>
              <a:rPr lang="pt-BR" sz="3600">
                <a:latin typeface="Adobe Devanagari"/>
              </a:rPr>
              <a:t> </a:t>
            </a:r>
            <a:r>
              <a:rPr lang="pt-BR" sz="3600" err="1">
                <a:latin typeface="Adobe Devanagari"/>
              </a:rPr>
              <a:t>Adaptive</a:t>
            </a:r>
            <a:r>
              <a:rPr lang="pt-BR" sz="3600">
                <a:latin typeface="Adobe Devanagari"/>
              </a:rPr>
              <a:t> </a:t>
            </a:r>
            <a:r>
              <a:rPr lang="pt-BR" sz="3600" err="1">
                <a:latin typeface="Adobe Devanagari"/>
              </a:rPr>
              <a:t>Authentication</a:t>
            </a:r>
            <a:r>
              <a:rPr lang="pt-BR" sz="3600">
                <a:latin typeface="Adobe Devanagari"/>
              </a:rPr>
              <a:t> Module for </a:t>
            </a:r>
            <a:r>
              <a:rPr lang="pt-BR" sz="3600" err="1">
                <a:latin typeface="Adobe Devanagari"/>
              </a:rPr>
              <a:t>SafeLAN</a:t>
            </a:r>
            <a:endParaRPr lang="en-US" err="1"/>
          </a:p>
        </p:txBody>
      </p:sp>
      <p:sp>
        <p:nvSpPr>
          <p:cNvPr id="20" name="Rectangle: Diagonal Corners Rounded 19">
            <a:extLst>
              <a:ext uri="{FF2B5EF4-FFF2-40B4-BE49-F238E27FC236}">
                <a16:creationId xmlns:a16="http://schemas.microsoft.com/office/drawing/2014/main" id="{69BCE09E-BABA-FB29-143E-07E85D3D5CCA}"/>
              </a:ext>
            </a:extLst>
          </p:cNvPr>
          <p:cNvSpPr/>
          <p:nvPr/>
        </p:nvSpPr>
        <p:spPr>
          <a:xfrm>
            <a:off x="2361587" y="1704571"/>
            <a:ext cx="6845764" cy="1264601"/>
          </a:xfrm>
          <a:prstGeom prst="round2Diag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/>
          <a:p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Key Domains</a:t>
            </a:r>
            <a:endParaRPr lang="en-US" b="1">
              <a:solidFill>
                <a:schemeClr val="tx1"/>
              </a:solidFill>
            </a:endParaRPr>
          </a:p>
          <a:p>
            <a:endParaRPr lang="en-US" sz="800" b="1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Authentication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Machine Learning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endParaRPr lang="en-US">
              <a:solidFill>
                <a:schemeClr val="tx1"/>
              </a:solidFill>
              <a:ea typeface="Cambria"/>
            </a:endParaRP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7BD0927B-0CAE-7D05-8464-F8864DFD7A39}"/>
              </a:ext>
            </a:extLst>
          </p:cNvPr>
          <p:cNvSpPr/>
          <p:nvPr/>
        </p:nvSpPr>
        <p:spPr>
          <a:xfrm>
            <a:off x="2360747" y="4844611"/>
            <a:ext cx="6845761" cy="1289043"/>
          </a:xfrm>
          <a:prstGeom prst="round2Diag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Data &amp; Ethics</a:t>
            </a:r>
            <a:endParaRPr lang="en-US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</a:pPr>
            <a:endParaRPr lang="en-US" sz="800" b="1">
              <a:solidFill>
                <a:schemeClr val="tx1"/>
              </a:solidFill>
              <a:ea typeface="Cambria"/>
            </a:endParaRP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User consent required for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SafeLAN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registration typing profiles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B4CF74B1-546B-E381-4FB5-1640925582BC}"/>
              </a:ext>
            </a:extLst>
          </p:cNvPr>
          <p:cNvSpPr/>
          <p:nvPr/>
        </p:nvSpPr>
        <p:spPr>
          <a:xfrm>
            <a:off x="2361586" y="3263605"/>
            <a:ext cx="6845764" cy="1290876"/>
          </a:xfrm>
          <a:prstGeom prst="round2Diag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/>
          <a:p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Technologies Used</a:t>
            </a:r>
          </a:p>
          <a:p>
            <a:endParaRPr lang="en-US" sz="800" b="1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CNN (Conventional Neural Networks)</a:t>
            </a: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LSTM (Long and Short Term Memory)</a:t>
            </a: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Public Datasets</a:t>
            </a:r>
            <a:endParaRPr lang="en-US">
              <a:solidFill>
                <a:schemeClr val="tx1"/>
              </a:solidFill>
              <a:ea typeface="Cambria"/>
            </a:endParaRPr>
          </a:p>
        </p:txBody>
      </p:sp>
      <p:pic>
        <p:nvPicPr>
          <p:cNvPr id="8" name="Picture 2" descr="Python 3.8 released: what's new - everyday.codes">
            <a:extLst>
              <a:ext uri="{FF2B5EF4-FFF2-40B4-BE49-F238E27FC236}">
                <a16:creationId xmlns:a16="http://schemas.microsoft.com/office/drawing/2014/main" id="{461BA0A3-FD32-3FC3-25B4-4790F9390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21" b="5263"/>
          <a:stretch>
            <a:fillRect/>
          </a:stretch>
        </p:blipFill>
        <p:spPr bwMode="auto">
          <a:xfrm>
            <a:off x="9721259" y="1716382"/>
            <a:ext cx="1989407" cy="795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red and blue brain with blue and red lines&#10;&#10;AI-generated content may be incorrect.">
            <a:extLst>
              <a:ext uri="{FF2B5EF4-FFF2-40B4-BE49-F238E27FC236}">
                <a16:creationId xmlns:a16="http://schemas.microsoft.com/office/drawing/2014/main" id="{B717A317-A62C-E2DD-B9CF-3D91F08453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44" t="12136" r="9756" b="5825"/>
          <a:stretch>
            <a:fillRect/>
          </a:stretch>
        </p:blipFill>
        <p:spPr>
          <a:xfrm>
            <a:off x="9439863" y="2858010"/>
            <a:ext cx="1276101" cy="12884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D756C2-B981-B280-CBFB-225C4ECF5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1016" y="4310716"/>
            <a:ext cx="1285614" cy="606077"/>
          </a:xfrm>
          <a:prstGeom prst="rect">
            <a:avLst/>
          </a:prstGeom>
        </p:spPr>
      </p:pic>
      <p:pic>
        <p:nvPicPr>
          <p:cNvPr id="13" name="Picture 12" descr="A black and white image of a document with a check mark&#10;&#10;AI-generated content may be incorrect.">
            <a:extLst>
              <a:ext uri="{FF2B5EF4-FFF2-40B4-BE49-F238E27FC236}">
                <a16:creationId xmlns:a16="http://schemas.microsoft.com/office/drawing/2014/main" id="{3E8E0A71-94F6-DA30-B459-AF8C9987C6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6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8570" y="5103769"/>
            <a:ext cx="774529" cy="742299"/>
          </a:xfrm>
          <a:prstGeom prst="rect">
            <a:avLst/>
          </a:prstGeom>
        </p:spPr>
      </p:pic>
      <p:pic>
        <p:nvPicPr>
          <p:cNvPr id="15" name="Picture 14" descr="A black and white logo&#10;&#10;AI-generated content may be incorrect.">
            <a:extLst>
              <a:ext uri="{FF2B5EF4-FFF2-40B4-BE49-F238E27FC236}">
                <a16:creationId xmlns:a16="http://schemas.microsoft.com/office/drawing/2014/main" id="{771FE69F-6725-7B59-B7B8-D8A42054FD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6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1133" y="3512638"/>
            <a:ext cx="939845" cy="824369"/>
          </a:xfrm>
          <a:prstGeom prst="rect">
            <a:avLst/>
          </a:prstGeom>
        </p:spPr>
      </p:pic>
      <p:pic>
        <p:nvPicPr>
          <p:cNvPr id="19" name="Picture 18" descr="A grey key with circles and dots&#10;&#10;AI-generated content may be incorrect.">
            <a:extLst>
              <a:ext uri="{FF2B5EF4-FFF2-40B4-BE49-F238E27FC236}">
                <a16:creationId xmlns:a16="http://schemas.microsoft.com/office/drawing/2014/main" id="{F18AB39B-9AA1-B810-9816-59055823EE7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5738" r="-893" b="2132"/>
          <a:stretch>
            <a:fillRect/>
          </a:stretch>
        </p:blipFill>
        <p:spPr>
          <a:xfrm>
            <a:off x="1340283" y="1898739"/>
            <a:ext cx="837178" cy="88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498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97C22-A2BB-34C6-4448-7404BFD50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408B17-3DBD-B605-AD7C-39674493EFAF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IT22328298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b="1" err="1">
                <a:solidFill>
                  <a:schemeClr val="tx1"/>
                </a:solidFill>
              </a:rPr>
              <a:t>Waidyarathne</a:t>
            </a:r>
            <a:r>
              <a:rPr lang="en-US" b="1">
                <a:solidFill>
                  <a:schemeClr val="tx1"/>
                </a:solidFill>
              </a:rPr>
              <a:t> U H A P G 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25-26J-067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04442364-A730-89E7-8C88-EB36EF2D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139" y="149752"/>
            <a:ext cx="10457145" cy="1423625"/>
          </a:xfrm>
        </p:spPr>
        <p:txBody>
          <a:bodyPr>
            <a:normAutofit/>
          </a:bodyPr>
          <a:lstStyle/>
          <a:p>
            <a:r>
              <a:rPr lang="pt-BR" sz="3600" err="1">
                <a:latin typeface="Adobe Devanagari"/>
              </a:rPr>
              <a:t>Behavioural</a:t>
            </a:r>
            <a:r>
              <a:rPr lang="pt-BR" sz="3600">
                <a:latin typeface="Adobe Devanagari"/>
              </a:rPr>
              <a:t> </a:t>
            </a:r>
            <a:r>
              <a:rPr lang="pt-BR" sz="3600" err="1">
                <a:latin typeface="Adobe Devanagari"/>
              </a:rPr>
              <a:t>Biometrics-Based</a:t>
            </a:r>
            <a:r>
              <a:rPr lang="pt-BR" sz="3600">
                <a:latin typeface="Adobe Devanagari"/>
              </a:rPr>
              <a:t> </a:t>
            </a:r>
            <a:r>
              <a:rPr lang="pt-BR" sz="3600" err="1">
                <a:latin typeface="Adobe Devanagari"/>
              </a:rPr>
              <a:t>Adaptive</a:t>
            </a:r>
            <a:r>
              <a:rPr lang="pt-BR" sz="3600">
                <a:latin typeface="Adobe Devanagari"/>
              </a:rPr>
              <a:t> </a:t>
            </a:r>
            <a:r>
              <a:rPr lang="pt-BR" sz="3600" err="1">
                <a:latin typeface="Adobe Devanagari"/>
              </a:rPr>
              <a:t>Authentication</a:t>
            </a:r>
            <a:r>
              <a:rPr lang="pt-BR" sz="3600">
                <a:latin typeface="Adobe Devanagari"/>
              </a:rPr>
              <a:t> Module for </a:t>
            </a:r>
            <a:r>
              <a:rPr lang="pt-BR" sz="3600" err="1">
                <a:latin typeface="Adobe Devanagari"/>
              </a:rPr>
              <a:t>SafeLAN</a:t>
            </a:r>
            <a:endParaRPr lang="en-US" err="1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5AB67966-0EB5-EF1B-453F-21789B22880A}"/>
              </a:ext>
            </a:extLst>
          </p:cNvPr>
          <p:cNvSpPr txBox="1">
            <a:spLocks/>
          </p:cNvSpPr>
          <p:nvPr/>
        </p:nvSpPr>
        <p:spPr>
          <a:xfrm>
            <a:off x="866738" y="2055886"/>
            <a:ext cx="10354442" cy="336781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Validating Accuracy of the Authentication Module</a:t>
            </a:r>
          </a:p>
          <a:p>
            <a:pPr marL="0" indent="0">
              <a:buNone/>
            </a:pPr>
            <a:endParaRPr lang="en-US" sz="800" b="1">
              <a:ea typeface="+mn-lt"/>
              <a:cs typeface="+mn-lt"/>
            </a:endParaRPr>
          </a:p>
          <a:p>
            <a:r>
              <a:rPr lang="en-US" sz="1800" b="1">
                <a:ea typeface="+mn-lt"/>
                <a:cs typeface="+mn-lt"/>
              </a:rPr>
              <a:t>Train-Test Split: </a:t>
            </a:r>
            <a:r>
              <a:rPr lang="en-US" sz="1800">
                <a:ea typeface="+mn-lt"/>
                <a:cs typeface="+mn-lt"/>
              </a:rPr>
              <a:t>Use part of the dataset for training, part for testing.</a:t>
            </a:r>
            <a:endParaRPr lang="en-US">
              <a:ea typeface="Cambria"/>
            </a:endParaRPr>
          </a:p>
          <a:p>
            <a:r>
              <a:rPr lang="en-US" sz="1800" b="1">
                <a:ea typeface="+mn-lt"/>
                <a:cs typeface="+mn-lt"/>
              </a:rPr>
              <a:t>Cross-Validation: </a:t>
            </a:r>
            <a:r>
              <a:rPr lang="en-US" sz="1800">
                <a:ea typeface="+mn-lt"/>
                <a:cs typeface="+mn-lt"/>
              </a:rPr>
              <a:t>Cross-validation to ensure robustness across users.</a:t>
            </a:r>
            <a:endParaRPr lang="en-US">
              <a:ea typeface="Cambria"/>
            </a:endParaRPr>
          </a:p>
          <a:p>
            <a:r>
              <a:rPr lang="en-US" sz="1800" b="1">
                <a:ea typeface="+mn-lt"/>
                <a:cs typeface="+mn-lt"/>
              </a:rPr>
              <a:t>Metrics</a:t>
            </a:r>
            <a:endParaRPr lang="en-US"/>
          </a:p>
          <a:p>
            <a:pPr lvl="1">
              <a:buFont typeface="Wingdings" pitchFamily="34" charset="0"/>
              <a:buChar char="Ø"/>
            </a:pPr>
            <a:r>
              <a:rPr lang="en-US" sz="1800">
                <a:ea typeface="+mn-lt"/>
                <a:cs typeface="+mn-lt"/>
              </a:rPr>
              <a:t>Accuracy</a:t>
            </a:r>
            <a:endParaRPr lang="en-US" sz="1800">
              <a:ea typeface="Cambria"/>
            </a:endParaRPr>
          </a:p>
          <a:p>
            <a:pPr lvl="1">
              <a:buFont typeface="Wingdings" pitchFamily="34" charset="0"/>
              <a:buChar char="Ø"/>
            </a:pPr>
            <a:r>
              <a:rPr lang="en-US" sz="1800">
                <a:ea typeface="+mn-lt"/>
                <a:cs typeface="+mn-lt"/>
              </a:rPr>
              <a:t>False Acceptance Rate (FAR)</a:t>
            </a:r>
          </a:p>
          <a:p>
            <a:pPr lvl="1">
              <a:buFont typeface="Wingdings" pitchFamily="34" charset="0"/>
              <a:buChar char="Ø"/>
            </a:pPr>
            <a:r>
              <a:rPr lang="en-US" sz="1800">
                <a:ea typeface="+mn-lt"/>
                <a:cs typeface="+mn-lt"/>
              </a:rPr>
              <a:t>False Rejection Rate (FRR)</a:t>
            </a:r>
            <a:endParaRPr lang="en-US" sz="1800">
              <a:ea typeface="Cambria"/>
            </a:endParaRPr>
          </a:p>
          <a:p>
            <a:r>
              <a:rPr lang="en-US" sz="1800" b="1">
                <a:ea typeface="+mn-lt"/>
                <a:cs typeface="+mn-lt"/>
              </a:rPr>
              <a:t>Trust Score Threshold Testing: </a:t>
            </a:r>
            <a:r>
              <a:rPr lang="en-US" sz="1800">
                <a:ea typeface="+mn-lt"/>
                <a:cs typeface="+mn-lt"/>
              </a:rPr>
              <a:t>Evaluate performance for different trust score cut-offs.</a:t>
            </a:r>
            <a:endParaRPr lang="en-US">
              <a:ea typeface="Cambria"/>
            </a:endParaRPr>
          </a:p>
          <a:p>
            <a:r>
              <a:rPr lang="en-US" sz="1800" b="1">
                <a:ea typeface="+mn-lt"/>
                <a:cs typeface="+mn-lt"/>
              </a:rPr>
              <a:t>Simulated Attack Testing: </a:t>
            </a:r>
            <a:r>
              <a:rPr lang="en-US" sz="1800">
                <a:ea typeface="+mn-lt"/>
                <a:cs typeface="+mn-lt"/>
              </a:rPr>
              <a:t>Test against impersonation attempts or anomalous typing patterns.</a:t>
            </a:r>
            <a:endParaRPr lang="en-US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074060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88280-7C64-6516-FF18-FAEC5F2E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26465B-B0B5-D53C-2ABA-E6FA483C40F6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IT22328298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b="1" err="1">
                <a:solidFill>
                  <a:schemeClr val="tx1"/>
                </a:solidFill>
              </a:rPr>
              <a:t>Waidyarathne</a:t>
            </a:r>
            <a:r>
              <a:rPr lang="en-US" b="1">
                <a:solidFill>
                  <a:schemeClr val="tx1"/>
                </a:solidFill>
              </a:rPr>
              <a:t> U H A P G 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25-26J-067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0D4FB67B-2F81-3E9E-462B-0043BAB5E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139" y="149752"/>
            <a:ext cx="10457145" cy="1423625"/>
          </a:xfrm>
        </p:spPr>
        <p:txBody>
          <a:bodyPr>
            <a:normAutofit/>
          </a:bodyPr>
          <a:lstStyle/>
          <a:p>
            <a:r>
              <a:rPr lang="pt-BR" sz="3600" err="1">
                <a:latin typeface="Adobe Devanagari"/>
              </a:rPr>
              <a:t>Behavioural</a:t>
            </a:r>
            <a:r>
              <a:rPr lang="pt-BR" sz="3600">
                <a:latin typeface="Adobe Devanagari"/>
              </a:rPr>
              <a:t> </a:t>
            </a:r>
            <a:r>
              <a:rPr lang="pt-BR" sz="3600" err="1">
                <a:latin typeface="Adobe Devanagari"/>
              </a:rPr>
              <a:t>Biometrics-Based</a:t>
            </a:r>
            <a:r>
              <a:rPr lang="pt-BR" sz="3600">
                <a:latin typeface="Adobe Devanagari"/>
              </a:rPr>
              <a:t> </a:t>
            </a:r>
            <a:r>
              <a:rPr lang="pt-BR" sz="3600" err="1">
                <a:latin typeface="Adobe Devanagari"/>
              </a:rPr>
              <a:t>Adaptive</a:t>
            </a:r>
            <a:r>
              <a:rPr lang="pt-BR" sz="3600">
                <a:latin typeface="Adobe Devanagari"/>
              </a:rPr>
              <a:t> </a:t>
            </a:r>
            <a:r>
              <a:rPr lang="pt-BR" sz="3600" err="1">
                <a:latin typeface="Adobe Devanagari"/>
              </a:rPr>
              <a:t>Authentication</a:t>
            </a:r>
            <a:r>
              <a:rPr lang="pt-BR" sz="3600">
                <a:latin typeface="Adobe Devanagari"/>
              </a:rPr>
              <a:t> Module for </a:t>
            </a:r>
            <a:r>
              <a:rPr lang="pt-BR" sz="3600" err="1">
                <a:latin typeface="Adobe Devanagari"/>
              </a:rPr>
              <a:t>SafeLAN</a:t>
            </a:r>
            <a:endParaRPr lang="en-US" err="1"/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E4CA3336-C6AD-84D2-6D32-967241C2115E}"/>
              </a:ext>
            </a:extLst>
          </p:cNvPr>
          <p:cNvSpPr/>
          <p:nvPr/>
        </p:nvSpPr>
        <p:spPr>
          <a:xfrm>
            <a:off x="865425" y="2071009"/>
            <a:ext cx="4546801" cy="3905470"/>
          </a:xfrm>
          <a:prstGeom prst="round2Diag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rmAutofit/>
          </a:bodyPr>
          <a:lstStyle/>
          <a:p>
            <a:pPr algn="ctr"/>
            <a:r>
              <a:rPr lang="en-US" sz="2000" b="1">
                <a:solidFill>
                  <a:schemeClr val="tx1"/>
                </a:solidFill>
                <a:ea typeface="+mn-lt"/>
                <a:cs typeface="+mn-lt"/>
              </a:rPr>
              <a:t>System Overview</a:t>
            </a: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pPr algn="ctr"/>
            <a:endParaRPr lang="en-US" sz="14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Runs </a:t>
            </a:r>
            <a:r>
              <a:rPr lang="en-US" sz="2000" b="1">
                <a:solidFill>
                  <a:schemeClr val="tx1"/>
                </a:solidFill>
                <a:ea typeface="+mn-lt"/>
                <a:cs typeface="+mn-lt"/>
              </a:rPr>
              <a:t>at login only</a:t>
            </a: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, analyzing keystroke dynamics.</a:t>
            </a:r>
          </a:p>
          <a:p>
            <a:pPr marL="285750" indent="-285750">
              <a:buFont typeface="Arial,Sans-Serif"/>
              <a:buChar char="•"/>
            </a:pPr>
            <a:endParaRPr lang="en-US" sz="8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b="1">
                <a:solidFill>
                  <a:schemeClr val="tx1"/>
                </a:solidFill>
                <a:ea typeface="+mn-lt"/>
                <a:cs typeface="+mn-lt"/>
              </a:rPr>
              <a:t>CNN + LSTM</a:t>
            </a: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 model for spatial and temporal typing patterns.</a:t>
            </a:r>
          </a:p>
          <a:p>
            <a:pPr marL="285750" indent="-285750">
              <a:buFont typeface="Arial,Sans-Serif"/>
              <a:buChar char="•"/>
            </a:pPr>
            <a:endParaRPr lang="en-US" sz="8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Computes a</a:t>
            </a:r>
            <a:r>
              <a:rPr lang="en-US" sz="2000">
                <a:solidFill>
                  <a:schemeClr val="tx1"/>
                </a:solidFill>
                <a:ea typeface="Cambria"/>
              </a:rPr>
              <a:t> </a:t>
            </a:r>
            <a:r>
              <a:rPr lang="en-US" sz="2000" b="1">
                <a:solidFill>
                  <a:schemeClr val="tx1"/>
                </a:solidFill>
                <a:ea typeface="Cambria"/>
              </a:rPr>
              <a:t>trust score</a:t>
            </a:r>
            <a:r>
              <a:rPr lang="en-US" sz="2000">
                <a:solidFill>
                  <a:schemeClr val="tx1"/>
                </a:solidFill>
                <a:ea typeface="Cambria"/>
              </a:rPr>
              <a:t> for user authenticity.</a:t>
            </a:r>
          </a:p>
          <a:p>
            <a:pPr marL="285750" indent="-285750">
              <a:buFont typeface="Arial,Sans-Serif"/>
              <a:buChar char="•"/>
            </a:pPr>
            <a:endParaRPr lang="en-US" sz="800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ea typeface="Cambria"/>
              </a:rPr>
              <a:t>Grants, restricts, or denies access </a:t>
            </a:r>
            <a:r>
              <a:rPr lang="en-US" sz="2000" b="1">
                <a:solidFill>
                  <a:schemeClr val="tx1"/>
                </a:solidFill>
                <a:ea typeface="Cambria"/>
              </a:rPr>
              <a:t>based on trust score</a:t>
            </a:r>
            <a:r>
              <a:rPr lang="en-US" sz="2000">
                <a:solidFill>
                  <a:schemeClr val="tx1"/>
                </a:solidFill>
                <a:ea typeface="Cambria"/>
              </a:rPr>
              <a:t>.</a:t>
            </a:r>
            <a:endParaRPr lang="en-US">
              <a:solidFill>
                <a:schemeClr val="tx1"/>
              </a:solidFill>
              <a:ea typeface="Cambria"/>
            </a:endParaRPr>
          </a:p>
        </p:txBody>
      </p:sp>
      <p:sp>
        <p:nvSpPr>
          <p:cNvPr id="20" name="Rectangle: Diagonal Corners Rounded 19">
            <a:extLst>
              <a:ext uri="{FF2B5EF4-FFF2-40B4-BE49-F238E27FC236}">
                <a16:creationId xmlns:a16="http://schemas.microsoft.com/office/drawing/2014/main" id="{CC2D30D3-9178-27D9-8C72-C537252CDC45}"/>
              </a:ext>
            </a:extLst>
          </p:cNvPr>
          <p:cNvSpPr/>
          <p:nvPr/>
        </p:nvSpPr>
        <p:spPr>
          <a:xfrm>
            <a:off x="6783612" y="2075313"/>
            <a:ext cx="4546805" cy="3900892"/>
          </a:xfrm>
          <a:prstGeom prst="round2Diag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rmAutofit lnSpcReduction="10000"/>
          </a:bodyPr>
          <a:lstStyle/>
          <a:p>
            <a:pPr algn="ctr"/>
            <a:endParaRPr lang="en-US" sz="900" b="1">
              <a:solidFill>
                <a:schemeClr val="tx1"/>
              </a:solidFill>
              <a:ea typeface="Cambria"/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  <a:ea typeface="Cambria"/>
              </a:rPr>
              <a:t>Real World Usage</a:t>
            </a:r>
            <a:endParaRPr lang="en-US" sz="2000">
              <a:solidFill>
                <a:schemeClr val="tx1"/>
              </a:solidFill>
              <a:ea typeface="Cambria"/>
            </a:endParaRPr>
          </a:p>
          <a:p>
            <a:endParaRPr lang="en-US" sz="1400" b="1">
              <a:solidFill>
                <a:schemeClr val="tx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User enters username &amp; password.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800">
              <a:solidFill>
                <a:schemeClr val="tx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Typing pattern captured during login.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endParaRPr lang="en-US" sz="800">
              <a:solidFill>
                <a:schemeClr val="tx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Trust score calculated </a:t>
            </a:r>
            <a:r>
              <a:rPr lang="en-US" sz="2000" b="1">
                <a:solidFill>
                  <a:schemeClr val="tx1"/>
                </a:solidFill>
                <a:ea typeface="+mn-lt"/>
                <a:cs typeface="+mn-lt"/>
              </a:rPr>
              <a:t>in real-time</a:t>
            </a: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endParaRPr lang="en-US" sz="800">
              <a:solidFill>
                <a:schemeClr val="tx1"/>
              </a:solidFill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   High → login successful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lvl="1">
              <a:buFont typeface="Courier New"/>
              <a:buChar char="o"/>
            </a:pPr>
            <a:r>
              <a:rPr lang="en-US" sz="2000">
                <a:solidFill>
                  <a:schemeClr val="tx1"/>
                </a:solidFill>
                <a:ea typeface="+mn-lt"/>
                <a:cs typeface="+mn-lt"/>
              </a:rPr>
              <a:t>   Low → login blocked/ re-                    authentication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algn="ctr"/>
            <a:endParaRPr lang="en-US" sz="2000">
              <a:solidFill>
                <a:schemeClr val="tx1"/>
              </a:solidFill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536760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834" y="2462437"/>
            <a:ext cx="10363200" cy="136207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0">
                <a:latin typeface="Adobe Devanagari"/>
              </a:rPr>
              <a:t>Behavior Anomaly Detection using Machine Learning to Ensure Continuous Authentication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BAACE6-3A32-4B05-86B9-0627EA641BA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IT22029386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err="1">
                <a:solidFill>
                  <a:schemeClr val="tx1"/>
                </a:solidFill>
              </a:rPr>
              <a:t>Wahalathanthri</a:t>
            </a:r>
            <a:r>
              <a:rPr lang="en-US">
                <a:solidFill>
                  <a:schemeClr val="tx1"/>
                </a:solidFill>
              </a:rPr>
              <a:t> C D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25-26J-067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BBA20BB-B540-6FA4-4002-BB4B25506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4237261"/>
            <a:ext cx="10363200" cy="944339"/>
          </a:xfrm>
        </p:spPr>
        <p:txBody>
          <a:bodyPr/>
          <a:lstStyle/>
          <a:p>
            <a:r>
              <a:rPr lang="en-US"/>
              <a:t>BSC (HONS) DEGREE IN INFORMATION TECHNOLOGY (SPECIALIZATION IN </a:t>
            </a:r>
          </a:p>
          <a:p>
            <a:r>
              <a:rPr lang="en-US"/>
              <a:t>CYBER SECURITY)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2DB940-AF42-1DAB-E9BD-E4D49A731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882" y="128467"/>
            <a:ext cx="2074904" cy="233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680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6FBBB-4C77-4A4B-BE54-96D3B0DF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20" y="846754"/>
            <a:ext cx="11684000" cy="868362"/>
          </a:xfrm>
        </p:spPr>
        <p:txBody>
          <a:bodyPr>
            <a:normAutofit fontScale="90000"/>
          </a:bodyPr>
          <a:lstStyle/>
          <a:p>
            <a:r>
              <a:rPr lang="en-US" sz="4000" cap="all" dirty="0">
                <a:latin typeface="Adobe Devanagari"/>
              </a:rPr>
              <a:t>Behavior Anomaly Detection using Machine Learning to Ensure Continuous Authentication</a:t>
            </a:r>
            <a:br>
              <a:rPr lang="en-US" dirty="0"/>
            </a:b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461F4-E6D8-4801-94AA-9B72FC99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980060"/>
            <a:ext cx="11684000" cy="5181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ea typeface="+mn-lt"/>
                <a:cs typeface="+mn-lt"/>
              </a:rPr>
              <a:t>Knowledge Gap / Problem Definition</a:t>
            </a: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      Traditional authentication in LANs only verifies at login.</a:t>
            </a:r>
            <a:endParaRPr lang="en-US" sz="2400">
              <a:ea typeface="Cambria"/>
            </a:endParaRP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      Post-login hijacking (physical &amp; remote) remains a major risk.</a:t>
            </a:r>
            <a:endParaRPr lang="en-US" sz="2400">
              <a:ea typeface="Cambria"/>
            </a:endParaRPr>
          </a:p>
          <a:p>
            <a:r>
              <a:rPr lang="en-US" sz="2400" b="1" dirty="0">
                <a:ea typeface="+mn-lt"/>
                <a:cs typeface="+mn-lt"/>
              </a:rPr>
              <a:t>Shortcomings of Existing Systems</a:t>
            </a:r>
            <a:endParaRPr lang="en-US" sz="2400">
              <a:ea typeface="Cambria"/>
            </a:endParaRP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      No continuous verification after login.</a:t>
            </a: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      Limited real-world LAN-focused solutions.</a:t>
            </a:r>
            <a:endParaRPr lang="en-US" sz="2400">
              <a:ea typeface="Cambria"/>
            </a:endParaRPr>
          </a:p>
          <a:p>
            <a:r>
              <a:rPr lang="en-US" sz="2400" b="1" dirty="0">
                <a:ea typeface="+mn-lt"/>
                <a:cs typeface="+mn-lt"/>
              </a:rPr>
              <a:t>Proposed Solution</a:t>
            </a:r>
            <a:endParaRPr lang="en-US" sz="2400">
              <a:ea typeface="Cambria"/>
            </a:endParaRP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     </a:t>
            </a:r>
            <a:r>
              <a:rPr lang="en-US" sz="2400" dirty="0" err="1">
                <a:ea typeface="+mn-lt"/>
                <a:cs typeface="+mn-lt"/>
              </a:rPr>
              <a:t>SafeLAN</a:t>
            </a:r>
            <a:r>
              <a:rPr lang="en-US" sz="2400" dirty="0">
                <a:ea typeface="+mn-lt"/>
                <a:cs typeface="+mn-lt"/>
              </a:rPr>
              <a:t>: ML-driven behavioral anomaly detection for continuous authentication.</a:t>
            </a:r>
            <a:endParaRPr lang="en-US" sz="2400" dirty="0">
              <a:ea typeface="Cambria"/>
            </a:endParaRP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    Uses keystroke, mouse, and system usage patterns.</a:t>
            </a:r>
            <a:endParaRPr lang="en-US" sz="2400">
              <a:ea typeface="Cambria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800" dirty="0">
              <a:highlight>
                <a:srgbClr val="FFFF00"/>
              </a:highlight>
              <a:ea typeface="+mn-lt"/>
              <a:cs typeface="+mn-lt"/>
            </a:endParaRPr>
          </a:p>
          <a:p>
            <a:pPr marL="0" indent="0">
              <a:buNone/>
            </a:pPr>
            <a:endParaRPr lang="en-US">
              <a:highlight>
                <a:srgbClr val="FFFF00"/>
              </a:highlight>
              <a:ea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DBF228-4B29-4775-AE86-C4CEA3B1156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  <a:ea typeface="Cambria"/>
              </a:rPr>
              <a:t>IT22029386</a:t>
            </a:r>
            <a:r>
              <a:rPr lang="en-US">
                <a:solidFill>
                  <a:schemeClr val="tx1"/>
                </a:solidFill>
                <a:ea typeface="Cambria"/>
              </a:rPr>
              <a:t> | </a:t>
            </a:r>
            <a:r>
              <a:rPr lang="en-US" err="1">
                <a:solidFill>
                  <a:schemeClr val="tx1"/>
                </a:solidFill>
                <a:ea typeface="Cambria"/>
              </a:rPr>
              <a:t>Wahalathanthri</a:t>
            </a:r>
            <a:r>
              <a:rPr lang="en-US">
                <a:solidFill>
                  <a:schemeClr val="tx1"/>
                </a:solidFill>
                <a:ea typeface="Cambria"/>
              </a:rPr>
              <a:t> C D </a:t>
            </a:r>
            <a:r>
              <a:rPr lang="en-US" b="1">
                <a:solidFill>
                  <a:schemeClr val="tx1"/>
                </a:solidFill>
                <a:ea typeface="Cambria"/>
              </a:rPr>
              <a:t> </a:t>
            </a:r>
            <a:r>
              <a:rPr lang="en-US">
                <a:solidFill>
                  <a:schemeClr val="tx1"/>
                </a:solidFill>
                <a:ea typeface="Cambria"/>
              </a:rPr>
              <a:t>| 25-26J-067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12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6FBBB-4C77-4A4B-BE54-96D3B0DF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dobe Devanagari"/>
              </a:rPr>
              <a:t>Technologies and Tools</a:t>
            </a:r>
          </a:p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10C40F3-0037-D0A9-08C5-B34FEF94F9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55709" y="1495082"/>
            <a:ext cx="3159958" cy="18942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725414B-AA6C-4871-B3DA-40C7A66D018F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  <a:ea typeface="Cambria"/>
              </a:rPr>
              <a:t>IT22029386</a:t>
            </a:r>
            <a:r>
              <a:rPr lang="en-US">
                <a:solidFill>
                  <a:schemeClr val="tx1"/>
                </a:solidFill>
                <a:ea typeface="Cambria"/>
              </a:rPr>
              <a:t> | </a:t>
            </a:r>
            <a:r>
              <a:rPr lang="en-US" err="1">
                <a:solidFill>
                  <a:schemeClr val="tx1"/>
                </a:solidFill>
                <a:ea typeface="Cambria"/>
              </a:rPr>
              <a:t>Wahalathanthri</a:t>
            </a:r>
            <a:r>
              <a:rPr lang="en-US">
                <a:solidFill>
                  <a:schemeClr val="tx1"/>
                </a:solidFill>
                <a:ea typeface="Cambria"/>
              </a:rPr>
              <a:t> C D </a:t>
            </a:r>
            <a:r>
              <a:rPr lang="en-US" b="1">
                <a:solidFill>
                  <a:schemeClr val="tx1"/>
                </a:solidFill>
                <a:ea typeface="Cambria"/>
              </a:rPr>
              <a:t> </a:t>
            </a:r>
            <a:r>
              <a:rPr lang="en-US">
                <a:solidFill>
                  <a:schemeClr val="tx1"/>
                </a:solidFill>
                <a:ea typeface="Cambria"/>
              </a:rPr>
              <a:t>| 25-26J-067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 descr="Python 3.8 released: what's new - everyday.codes">
            <a:extLst>
              <a:ext uri="{FF2B5EF4-FFF2-40B4-BE49-F238E27FC236}">
                <a16:creationId xmlns:a16="http://schemas.microsoft.com/office/drawing/2014/main" id="{740FBB22-D791-371A-B160-AAF462704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05" y="1536133"/>
            <a:ext cx="3352800" cy="16371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9652BAA-8AEA-5AF9-0FAB-79CED2BEC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932588" y="1715314"/>
            <a:ext cx="2159000" cy="1460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6CB004-7DE8-1A09-476B-9D0FF1A04EBE}"/>
              </a:ext>
            </a:extLst>
          </p:cNvPr>
          <p:cNvSpPr txBox="1"/>
          <p:nvPr/>
        </p:nvSpPr>
        <p:spPr>
          <a:xfrm>
            <a:off x="756962" y="4642532"/>
            <a:ext cx="834799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Latest Technologies</a:t>
            </a:r>
            <a:endParaRPr lang="en-US" sz="2000" b="1" dirty="0">
              <a:ea typeface="Cambria"/>
            </a:endParaRP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ML models: Random Forest, One-Class SVM</a:t>
            </a:r>
            <a:endParaRPr lang="en-US" sz="2000" dirty="0">
              <a:ea typeface="Cambria"/>
            </a:endParaRPr>
          </a:p>
          <a:p>
            <a:pPr marL="228600" indent="-228600">
              <a:buFont typeface=""/>
              <a:buChar char="•"/>
            </a:pPr>
            <a:r>
              <a:rPr lang="en-US" sz="2000" dirty="0"/>
              <a:t>Frameworks: TensorFlow, </a:t>
            </a:r>
            <a:r>
              <a:rPr lang="en-US" sz="2000" err="1"/>
              <a:t>PyTorch</a:t>
            </a:r>
            <a:r>
              <a:rPr lang="en-US" sz="2000" dirty="0"/>
              <a:t>, Scikit-learn.</a:t>
            </a:r>
            <a:endParaRPr lang="en-US" sz="2000" dirty="0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717795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EE5A6-4E1A-AF72-8527-7DAF7614D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18" y="767210"/>
            <a:ext cx="11684000" cy="792162"/>
          </a:xfrm>
        </p:spPr>
        <p:txBody>
          <a:bodyPr>
            <a:normAutofit fontScale="90000"/>
          </a:bodyPr>
          <a:lstStyle/>
          <a:p>
            <a:r>
              <a:rPr lang="en-US" sz="3200" cap="all" dirty="0">
                <a:latin typeface="Adobe Devanagari"/>
              </a:rPr>
              <a:t>Behavior Anomaly Detection using Machine Learning to Ensure Continuous Authentication</a:t>
            </a:r>
            <a:endParaRPr lang="en-US" sz="3200" dirty="0">
              <a:latin typeface="Adobe Devanagari"/>
            </a:endParaRPr>
          </a:p>
          <a:p>
            <a:endParaRPr lang="en-US" sz="4000" dirty="0">
              <a:latin typeface="Adobe Devanaga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1A062-1B1A-194B-9A0D-CC537B43E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698" y="2028743"/>
            <a:ext cx="11684000" cy="5181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US" b="1">
                <a:ea typeface="+mn-lt"/>
                <a:cs typeface="+mn-lt"/>
              </a:rPr>
              <a:t>Data Availability &amp; Ethics</a:t>
            </a:r>
            <a:endParaRPr lang="en-US">
              <a:ea typeface="Cambria"/>
            </a:endParaRPr>
          </a:p>
          <a:p>
            <a:pPr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Behavioral logs: keystrokes, mouse dynamics, file access.</a:t>
            </a:r>
            <a:endParaRPr lang="en-US">
              <a:ea typeface="Cambria"/>
            </a:endParaRPr>
          </a:p>
          <a:p>
            <a:pPr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Ethical clearance: anonymized, non-intrusive data collection</a:t>
            </a:r>
            <a:endParaRPr lang="en-US">
              <a:ea typeface="Cambria"/>
            </a:endParaRPr>
          </a:p>
          <a:p>
            <a:pPr marL="0" indent="0" algn="ctr">
              <a:buNone/>
            </a:pPr>
            <a:endParaRPr lang="en-US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307213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6FBBB-4C77-4A4B-BE54-96D3B0DF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921957"/>
            <a:ext cx="11684000" cy="792162"/>
          </a:xfrm>
        </p:spPr>
        <p:txBody>
          <a:bodyPr>
            <a:normAutofit fontScale="90000"/>
          </a:bodyPr>
          <a:lstStyle/>
          <a:p>
            <a:r>
              <a:rPr lang="en-US" sz="3200" cap="all" dirty="0">
                <a:latin typeface="Adobe Devanagari"/>
              </a:rPr>
              <a:t>Behavior Anomaly Detection using Machine Learning to Ensure Continuous Authentication</a:t>
            </a:r>
            <a:endParaRPr lang="en-US" sz="3200" dirty="0">
              <a:latin typeface="Adobe Devanagari"/>
            </a:endParaRPr>
          </a:p>
          <a:p>
            <a:endParaRPr lang="en-US" dirty="0">
              <a:latin typeface="Adobe Devanaga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461F4-E6D8-4801-94AA-9B72FC99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73512"/>
            <a:ext cx="11684000" cy="5181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ea typeface="+mn-lt"/>
                <a:cs typeface="+mn-lt"/>
              </a:rPr>
              <a:t>System Overview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User login → Behavior monitoring → Feature extraction → ML anomaly detection → Decision response (MFA/lockout).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Real-world Use</a:t>
            </a:r>
            <a:endParaRPr lang="en-US"/>
          </a:p>
          <a:p>
            <a:pPr marL="1028700" lvl="1">
              <a:buFont typeface="Wingdings"/>
              <a:buChar char="Ø"/>
            </a:pPr>
            <a:r>
              <a:rPr lang="en-US">
                <a:ea typeface="+mn-lt"/>
                <a:cs typeface="+mn-lt"/>
              </a:rPr>
              <a:t>Continuous verification during LAN sessions.</a:t>
            </a:r>
            <a:endParaRPr lang="en-US"/>
          </a:p>
          <a:p>
            <a:pPr marL="1028700" lvl="1">
              <a:buFont typeface="Wingdings"/>
              <a:buChar char="Ø"/>
            </a:pPr>
            <a:r>
              <a:rPr lang="en-US">
                <a:ea typeface="+mn-lt"/>
                <a:cs typeface="+mn-lt"/>
              </a:rPr>
              <a:t>Automatic alerts &amp; mitigation on anomalies.</a:t>
            </a:r>
            <a:endParaRPr lang="en-US"/>
          </a:p>
          <a:p>
            <a:pPr marL="1028700" lvl="1">
              <a:buFont typeface="Wingdings"/>
              <a:buChar char="Ø"/>
            </a:pPr>
            <a:r>
              <a:rPr lang="en-US">
                <a:ea typeface="+mn-lt"/>
                <a:cs typeface="+mn-lt"/>
              </a:rPr>
              <a:t>Protects sensitive data in enterprises, government, healthcare.</a:t>
            </a:r>
            <a:endParaRPr lang="en-US"/>
          </a:p>
          <a:p>
            <a:pPr marL="0" indent="0">
              <a:buNone/>
            </a:pPr>
            <a:endParaRPr lang="en-US">
              <a:highlight>
                <a:srgbClr val="FFFF00"/>
              </a:highlight>
              <a:ea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A60EF3-4090-4DCA-9E5C-9FBCC317B9A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  <a:ea typeface="Cambria"/>
              </a:rPr>
              <a:t>IT22029386</a:t>
            </a:r>
            <a:r>
              <a:rPr lang="en-US">
                <a:solidFill>
                  <a:schemeClr val="tx1"/>
                </a:solidFill>
                <a:ea typeface="Cambria"/>
              </a:rPr>
              <a:t> | </a:t>
            </a:r>
            <a:r>
              <a:rPr lang="en-US" err="1">
                <a:solidFill>
                  <a:schemeClr val="tx1"/>
                </a:solidFill>
                <a:ea typeface="Cambria"/>
              </a:rPr>
              <a:t>Wahalathanthri</a:t>
            </a:r>
            <a:r>
              <a:rPr lang="en-US">
                <a:solidFill>
                  <a:schemeClr val="tx1"/>
                </a:solidFill>
                <a:ea typeface="Cambria"/>
              </a:rPr>
              <a:t> C D </a:t>
            </a:r>
            <a:r>
              <a:rPr lang="en-US" b="1">
                <a:solidFill>
                  <a:schemeClr val="tx1"/>
                </a:solidFill>
                <a:ea typeface="Cambria"/>
              </a:rPr>
              <a:t> </a:t>
            </a:r>
            <a:r>
              <a:rPr lang="en-US">
                <a:solidFill>
                  <a:schemeClr val="tx1"/>
                </a:solidFill>
                <a:ea typeface="Cambria"/>
              </a:rPr>
              <a:t>| 25-26J-067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686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E9FB3-6D5F-3B9E-D1CB-1F27274C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600EDD-F01C-D8D8-EFF7-3BB8CA9D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0">
                <a:latin typeface="Adobe Devanagari"/>
              </a:rPr>
              <a:t>Secure file viewing with a new biometric to lockdown browser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F4397D-0E75-16DB-B328-ABA36F0130F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IT22323002</a:t>
            </a:r>
            <a:r>
              <a:rPr lang="en-US" sz="1800">
                <a:solidFill>
                  <a:schemeClr val="tx1"/>
                </a:solidFill>
              </a:rPr>
              <a:t>  |   Hirimuthugoda N A|   </a:t>
            </a:r>
            <a:r>
              <a:rPr lang="en-US">
                <a:solidFill>
                  <a:schemeClr val="tx1"/>
                </a:solidFill>
              </a:rPr>
              <a:t>25-26J-067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0E08142-84BE-62F9-5E4B-EC29AF0B8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4237261"/>
            <a:ext cx="10363200" cy="944339"/>
          </a:xfrm>
        </p:spPr>
        <p:txBody>
          <a:bodyPr/>
          <a:lstStyle/>
          <a:p>
            <a:r>
              <a:rPr lang="en-US"/>
              <a:t>BSC (HONS) DEGREE IN INFORMATION TECHNOLOGY (SPECIALIZATION IN </a:t>
            </a:r>
          </a:p>
          <a:p>
            <a:r>
              <a:rPr lang="en-US"/>
              <a:t>CYBER SECURITY)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AF8867-1B59-D574-5F9B-E78F7F6F0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230" y="134882"/>
            <a:ext cx="2017088" cy="231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427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2D917-9C18-D6D7-1CA7-7ACE872B4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4F66F7-053C-A391-15F6-0E898CBF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4588" y="545243"/>
            <a:ext cx="9330764" cy="95800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>
                <a:latin typeface="Adobe Devanagari"/>
              </a:rPr>
              <a:t>Secure file viewing with a new </a:t>
            </a:r>
            <a:br>
              <a:rPr lang="en-US" sz="3600">
                <a:latin typeface="Adobe Devanagari"/>
              </a:rPr>
            </a:br>
            <a:r>
              <a:rPr lang="en-US" sz="3600">
                <a:latin typeface="Adobe Devanagari"/>
              </a:rPr>
              <a:t>biometric to lockdown browser</a:t>
            </a:r>
            <a:br>
              <a:rPr lang="en-US" sz="3600">
                <a:latin typeface="Adobe Devanagari"/>
              </a:rPr>
            </a:br>
            <a:endParaRPr lang="en-US" sz="36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AB8CA-E6A4-89AC-F3DE-354468237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771" y="1714500"/>
            <a:ext cx="11684000" cy="424030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2400">
              <a:ea typeface="Cambria"/>
            </a:endParaRPr>
          </a:p>
          <a:p>
            <a:r>
              <a:rPr lang="en-US" sz="2400"/>
              <a:t>Spoofing Attacks – Fake biometric samples to impersonate.</a:t>
            </a:r>
            <a:endParaRPr lang="en-US" sz="2400">
              <a:ea typeface="Cambria"/>
            </a:endParaRPr>
          </a:p>
          <a:p>
            <a:r>
              <a:rPr lang="en-US" sz="2400"/>
              <a:t>Privacy issues when storing biometric data.</a:t>
            </a:r>
            <a:endParaRPr lang="en-US" sz="2400">
              <a:ea typeface="Cambria"/>
            </a:endParaRPr>
          </a:p>
          <a:p>
            <a:r>
              <a:rPr lang="en-US" sz="2400"/>
              <a:t>Data Corruption compromising integrity.</a:t>
            </a:r>
            <a:endParaRPr lang="en-US" sz="2400">
              <a:ea typeface="Cambria"/>
            </a:endParaRPr>
          </a:p>
          <a:p>
            <a:r>
              <a:rPr lang="en-US" sz="2400"/>
              <a:t>Deepfakes.</a:t>
            </a:r>
            <a:endParaRPr lang="en-US" sz="2400">
              <a:ea typeface="Cambria"/>
            </a:endParaRPr>
          </a:p>
          <a:p>
            <a:r>
              <a:rPr lang="en-US" sz="2400"/>
              <a:t>Phishing Attacks.</a:t>
            </a:r>
            <a:endParaRPr lang="en-US" sz="2400">
              <a:ea typeface="Cambria"/>
            </a:endParaRPr>
          </a:p>
          <a:p>
            <a:pPr marL="0" indent="0">
              <a:buNone/>
            </a:pPr>
            <a:endParaRPr lang="en-US" sz="2400">
              <a:ea typeface="Cambria"/>
            </a:endParaRPr>
          </a:p>
          <a:p>
            <a:r>
              <a:rPr lang="en-US" sz="2400">
                <a:ea typeface="Cambria"/>
              </a:rPr>
              <a:t>No Data Storage.</a:t>
            </a:r>
          </a:p>
          <a:p>
            <a:r>
              <a:rPr lang="en-US" sz="2400">
                <a:ea typeface="Cambria"/>
              </a:rPr>
              <a:t>No verification links involved.</a:t>
            </a:r>
          </a:p>
          <a:p>
            <a:r>
              <a:rPr lang="en-US" sz="2400">
                <a:ea typeface="Cambria"/>
              </a:rPr>
              <a:t>Brute-Forcing codes impossible.</a:t>
            </a:r>
          </a:p>
          <a:p>
            <a:endParaRPr lang="en-US">
              <a:ea typeface="Cambria"/>
            </a:endParaRPr>
          </a:p>
          <a:p>
            <a:endParaRPr lang="en-US">
              <a:ea typeface="Cambri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0C84C0-F274-E02B-5D5C-D0E2384A2B5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IT22323002</a:t>
            </a:r>
            <a:r>
              <a:rPr lang="en-US" sz="1800">
                <a:solidFill>
                  <a:schemeClr val="tx1"/>
                </a:solidFill>
              </a:rPr>
              <a:t>  |   Hirimuthugoda N A|   </a:t>
            </a:r>
            <a:r>
              <a:rPr lang="en-US">
                <a:solidFill>
                  <a:schemeClr val="tx1"/>
                </a:solidFill>
              </a:rPr>
              <a:t>25-26J-067</a:t>
            </a:r>
            <a:endParaRPr lang="en-US" sz="18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287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62FC5-AFE3-A9C2-CBCD-86A5E9A1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25C07F-3089-9E32-8E42-2AE8A29C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41" y="748553"/>
            <a:ext cx="11684000" cy="792162"/>
          </a:xfrm>
        </p:spPr>
        <p:txBody>
          <a:bodyPr>
            <a:normAutofit fontScale="90000"/>
          </a:bodyPr>
          <a:lstStyle/>
          <a:p>
            <a:r>
              <a:rPr lang="en-US" sz="4000">
                <a:latin typeface="Adobe Devanagari"/>
              </a:rPr>
              <a:t>Secure file viewing with a new </a:t>
            </a:r>
            <a:br>
              <a:rPr lang="en-US" sz="4000">
                <a:latin typeface="Adobe Devanagari"/>
              </a:rPr>
            </a:br>
            <a:r>
              <a:rPr lang="en-US" sz="4000">
                <a:latin typeface="Adobe Devanagari"/>
              </a:rPr>
              <a:t>biometric to lockdown browser</a:t>
            </a:r>
            <a:br>
              <a:rPr lang="en-US" sz="4000">
                <a:latin typeface="Adobe Devanagari"/>
              </a:rPr>
            </a:br>
            <a:endParaRPr lang="en-US" sz="4000">
              <a:latin typeface="Adobe Devanagari"/>
            </a:endParaRPr>
          </a:p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BD1BCE-7395-C2F9-BCB8-4E9EA01E9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48" y="1523999"/>
            <a:ext cx="11684000" cy="480060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/>
              <a:t>User Receives Code   →     User Performs Hand Gesture →     Gesture Captured via Webcam one by one    →                          Gesture Recognition Engine      →     Code Match Verification       →        Access Granted in Lockdown Browser </a:t>
            </a:r>
            <a:endParaRPr lang="en-US">
              <a:highlight>
                <a:srgbClr val="FFFF00"/>
              </a:highligh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BB8C45-00A4-1093-14EF-B071D745778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IT22323002</a:t>
            </a:r>
            <a:r>
              <a:rPr lang="en-US" sz="1800">
                <a:solidFill>
                  <a:schemeClr val="tx1"/>
                </a:solidFill>
              </a:rPr>
              <a:t>  |   Hirimuthugoda N A|   </a:t>
            </a:r>
            <a:r>
              <a:rPr lang="en-US">
                <a:solidFill>
                  <a:schemeClr val="tx1"/>
                </a:solidFill>
              </a:rPr>
              <a:t>25-26J-067</a:t>
            </a:r>
            <a:endParaRPr lang="en-US" sz="18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249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F9554-FDD5-FB52-0B12-C35DDEF15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75619C-2FBA-FD7A-F2DF-52B936F05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18" y="847801"/>
            <a:ext cx="11684000" cy="86836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>
                <a:latin typeface="Adobe Devanagari"/>
              </a:rPr>
              <a:t>Secure file viewing with a new </a:t>
            </a:r>
            <a:br>
              <a:rPr lang="en-US" sz="3600">
                <a:latin typeface="Adobe Devanagari"/>
              </a:rPr>
            </a:br>
            <a:r>
              <a:rPr lang="en-US" sz="3600">
                <a:latin typeface="Adobe Devanagari"/>
              </a:rPr>
              <a:t>biometric to lockdown browser</a:t>
            </a:r>
            <a:br>
              <a:rPr lang="en-US" sz="3600">
                <a:latin typeface="Adobe Devanagari"/>
              </a:rPr>
            </a:br>
            <a:endParaRPr lang="en-US" sz="3600">
              <a:latin typeface="Adobe Devanagari"/>
            </a:endParaRPr>
          </a:p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9891DE-55A0-D7D9-CEB6-6E0EBDF86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771" y="2342029"/>
            <a:ext cx="11684000" cy="26490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000">
                <a:ea typeface="Cambria"/>
              </a:rPr>
              <a:t>Ways to validate accuracy include:</a:t>
            </a:r>
          </a:p>
          <a:p>
            <a:r>
              <a:rPr lang="en-US" sz="3000">
                <a:ea typeface="Cambria"/>
              </a:rPr>
              <a:t>Test for valid and invalid gesture input.</a:t>
            </a:r>
          </a:p>
          <a:p>
            <a:r>
              <a:rPr lang="en-US" sz="3000">
                <a:ea typeface="Cambria"/>
              </a:rPr>
              <a:t>Test for gesture performance under different light conditions.</a:t>
            </a:r>
          </a:p>
          <a:p>
            <a:r>
              <a:rPr lang="en-US" sz="3000">
                <a:ea typeface="Cambria"/>
              </a:rPr>
              <a:t>Test for gesture performance under different angles.</a:t>
            </a:r>
          </a:p>
          <a:p>
            <a:endParaRPr lang="en-US" sz="3000">
              <a:ea typeface="Cambria"/>
            </a:endParaRPr>
          </a:p>
          <a:p>
            <a:pPr marL="0" indent="0">
              <a:buNone/>
            </a:pPr>
            <a:endParaRPr lang="en-US" sz="3000">
              <a:ea typeface="Cambria"/>
            </a:endParaRPr>
          </a:p>
          <a:p>
            <a:pPr marL="0" indent="0">
              <a:buNone/>
            </a:pPr>
            <a:endParaRPr lang="en-US" sz="3000">
              <a:ea typeface="Cambria"/>
            </a:endParaRPr>
          </a:p>
          <a:p>
            <a:endParaRPr lang="en-US" sz="3000">
              <a:ea typeface="Cambri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6F4837-1C1E-8DA7-D5D1-6EF160DDAAC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IT22323002</a:t>
            </a:r>
            <a:r>
              <a:rPr lang="en-US" sz="1800">
                <a:solidFill>
                  <a:schemeClr val="tx1"/>
                </a:solidFill>
              </a:rPr>
              <a:t>  |   Hirimuthugoda N A|   </a:t>
            </a:r>
            <a:r>
              <a:rPr lang="en-US">
                <a:solidFill>
                  <a:schemeClr val="tx1"/>
                </a:solidFill>
              </a:rPr>
              <a:t>25-26J-067</a:t>
            </a:r>
            <a:endParaRPr lang="en-US" sz="18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910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675E-3443-920D-8325-C28275E9B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692798-6DE0-0581-B692-80EF1CD5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>
                <a:latin typeface="Adobe Devanagari"/>
              </a:rPr>
              <a:t>Secure file viewing with a new </a:t>
            </a:r>
            <a:br>
              <a:rPr lang="en-US" sz="4000">
                <a:latin typeface="Adobe Devanagari"/>
              </a:rPr>
            </a:br>
            <a:r>
              <a:rPr lang="en-US" sz="4000">
                <a:latin typeface="Adobe Devanagari"/>
              </a:rPr>
              <a:t>biometric to lockdown browser</a:t>
            </a:r>
            <a:endParaRPr lang="en-US"/>
          </a:p>
        </p:txBody>
      </p:sp>
      <p:pic>
        <p:nvPicPr>
          <p:cNvPr id="1026" name="Picture 2" descr="Python 3.8 released: what's new - everyday.codes">
            <a:extLst>
              <a:ext uri="{FF2B5EF4-FFF2-40B4-BE49-F238E27FC236}">
                <a16:creationId xmlns:a16="http://schemas.microsoft.com/office/drawing/2014/main" id="{D007CDA4-EF99-A008-B795-2051B2A34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688" y="1441076"/>
            <a:ext cx="3128683" cy="152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ediaPipe - YouTube">
            <a:extLst>
              <a:ext uri="{FF2B5EF4-FFF2-40B4-BE49-F238E27FC236}">
                <a16:creationId xmlns:a16="http://schemas.microsoft.com/office/drawing/2014/main" id="{FF8B931D-CAAD-4A4B-93D3-A5D9B6FAB1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7" b="11890"/>
          <a:stretch>
            <a:fillRect/>
          </a:stretch>
        </p:blipFill>
        <p:spPr bwMode="auto">
          <a:xfrm>
            <a:off x="4602509" y="1584536"/>
            <a:ext cx="2454089" cy="184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afe Exam Browser - Demo">
            <a:extLst>
              <a:ext uri="{FF2B5EF4-FFF2-40B4-BE49-F238E27FC236}">
                <a16:creationId xmlns:a16="http://schemas.microsoft.com/office/drawing/2014/main" id="{33FA272A-323E-326D-0FA9-0C63759A35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9" t="18000" b="18000"/>
          <a:stretch>
            <a:fillRect/>
          </a:stretch>
        </p:blipFill>
        <p:spPr bwMode="auto">
          <a:xfrm>
            <a:off x="8660855" y="1339973"/>
            <a:ext cx="3329440" cy="162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10" descr="Flask (web framework) - Wikipedia">
            <a:extLst>
              <a:ext uri="{FF2B5EF4-FFF2-40B4-BE49-F238E27FC236}">
                <a16:creationId xmlns:a16="http://schemas.microsoft.com/office/drawing/2014/main" id="{F8474F6D-F8EE-4329-1F57-5ABCFBE7B0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DC686D-418B-4493-9A35-5C4A51B4382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IT22323002</a:t>
            </a:r>
            <a:r>
              <a:rPr lang="en-US" sz="1800">
                <a:solidFill>
                  <a:schemeClr val="tx1"/>
                </a:solidFill>
              </a:rPr>
              <a:t>  |   Hirimuthugoda N A|   </a:t>
            </a:r>
            <a:r>
              <a:rPr lang="en-US">
                <a:solidFill>
                  <a:schemeClr val="tx1"/>
                </a:solidFill>
              </a:rPr>
              <a:t>25-26J-067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1B0A4-EB98-3ED8-7C55-F8FCB16E24F5}"/>
              </a:ext>
            </a:extLst>
          </p:cNvPr>
          <p:cNvSpPr txBox="1"/>
          <p:nvPr/>
        </p:nvSpPr>
        <p:spPr>
          <a:xfrm>
            <a:off x="162265" y="4309461"/>
            <a:ext cx="1156140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GB" sz="3000">
                <a:ea typeface="Cambria"/>
              </a:rPr>
              <a:t>MediaPipe is better for in recognizing hand gestures with inbuilt datasets.</a:t>
            </a:r>
            <a:endParaRPr lang="en-US">
              <a:ea typeface="Cambria"/>
            </a:endParaRPr>
          </a:p>
          <a:p>
            <a:pPr marL="457200" indent="-457200">
              <a:buFont typeface="Arial"/>
              <a:buChar char="•"/>
            </a:pPr>
            <a:r>
              <a:rPr lang="en-GB" sz="3000">
                <a:ea typeface="Cambria"/>
              </a:rPr>
              <a:t>SEB is an open-source software.</a:t>
            </a:r>
          </a:p>
        </p:txBody>
      </p:sp>
    </p:spTree>
    <p:extLst>
      <p:ext uri="{BB962C8B-B14F-4D97-AF65-F5344CB8AC3E}">
        <p14:creationId xmlns:p14="http://schemas.microsoft.com/office/powerpoint/2010/main" val="3904333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laptops with papers flying out of them&#10;&#10;AI-generated content may be incorrect.">
            <a:extLst>
              <a:ext uri="{FF2B5EF4-FFF2-40B4-BE49-F238E27FC236}">
                <a16:creationId xmlns:a16="http://schemas.microsoft.com/office/drawing/2014/main" id="{36B20553-F7AB-32A1-A5F4-496FDA3969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3191"/>
            <a:ext cx="12192000" cy="683480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2863363"/>
            <a:ext cx="10363200" cy="1362075"/>
          </a:xfrm>
        </p:spPr>
        <p:txBody>
          <a:bodyPr/>
          <a:lstStyle/>
          <a:p>
            <a:r>
              <a:rPr lang="en-US" b="0">
                <a:latin typeface="Adobe Devanagari"/>
              </a:rPr>
              <a:t>Blockchain-Based Dual-Logging System For LAN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5029200"/>
            <a:ext cx="10363200" cy="708248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/>
              <a:t>BSC (HONS) DEGREE IN INFORMATION TECHNOLOGY (SPECIALIZATION IN ​</a:t>
            </a:r>
          </a:p>
          <a:p>
            <a:pPr fontAlgn="base"/>
            <a:r>
              <a:rPr lang="en-US"/>
              <a:t>CYBER SECURITY​)</a:t>
            </a:r>
            <a:endParaRPr lang="en-US">
              <a:ea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IT22892744</a:t>
            </a:r>
            <a:r>
              <a:rPr lang="en-US" sz="1800">
                <a:solidFill>
                  <a:schemeClr val="tx1"/>
                </a:solidFill>
              </a:rPr>
              <a:t>   |   Dias W P S  |   </a:t>
            </a:r>
            <a:r>
              <a:rPr lang="en-US" sz="1800" b="0">
                <a:solidFill>
                  <a:schemeClr val="tx1"/>
                </a:solidFill>
              </a:rPr>
              <a:t>25 – 26J - 067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2D80C6-6B85-4185-AE4B-BE18E09F3D0D}"/>
              </a:ext>
            </a:extLst>
          </p:cNvPr>
          <p:cNvSpPr/>
          <p:nvPr/>
        </p:nvSpPr>
        <p:spPr>
          <a:xfrm>
            <a:off x="10134600" y="152400"/>
            <a:ext cx="1981200" cy="2286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18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55F57E-D690-D281-2E28-0418AFCF812B}"/>
              </a:ext>
            </a:extLst>
          </p:cNvPr>
          <p:cNvSpPr txBox="1"/>
          <p:nvPr/>
        </p:nvSpPr>
        <p:spPr>
          <a:xfrm>
            <a:off x="748606" y="0"/>
            <a:ext cx="106947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Blockchain-Based Dual-Logging System For 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0449F5-679B-AAE4-6F28-D50D45C3070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IT22892744</a:t>
            </a:r>
            <a:r>
              <a:rPr lang="en-US" sz="1800">
                <a:solidFill>
                  <a:schemeClr val="tx1"/>
                </a:solidFill>
              </a:rPr>
              <a:t>   |   Dias W P S  |   </a:t>
            </a:r>
            <a:r>
              <a:rPr lang="en-US" sz="1800" b="0">
                <a:solidFill>
                  <a:schemeClr val="tx1"/>
                </a:solidFill>
              </a:rPr>
              <a:t>25 – 26J - 067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3A1E6A-B496-26DC-5401-58A3055D1952}"/>
              </a:ext>
            </a:extLst>
          </p:cNvPr>
          <p:cNvSpPr txBox="1"/>
          <p:nvPr/>
        </p:nvSpPr>
        <p:spPr>
          <a:xfrm>
            <a:off x="748606" y="881744"/>
            <a:ext cx="9216661" cy="25237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/>
              <a:t>Challenges</a:t>
            </a:r>
            <a:endParaRPr lang="en-US" sz="2800" b="1"/>
          </a:p>
          <a:p>
            <a:pPr>
              <a:lnSpc>
                <a:spcPct val="150000"/>
              </a:lnSpc>
            </a:pPr>
            <a:r>
              <a:rPr lang="en-US" b="1"/>
              <a:t>Centralized Architecture:</a:t>
            </a:r>
            <a:r>
              <a:rPr lang="en-US"/>
              <a:t> Single point of failure and control</a:t>
            </a:r>
            <a:endParaRPr lang="en-US">
              <a:ea typeface="Cambria"/>
            </a:endParaRPr>
          </a:p>
          <a:p>
            <a:pPr>
              <a:lnSpc>
                <a:spcPct val="150000"/>
              </a:lnSpc>
            </a:pPr>
            <a:r>
              <a:rPr lang="en-US" b="1"/>
              <a:t>Vulnerability to Tampering:</a:t>
            </a:r>
            <a:r>
              <a:rPr lang="en-US"/>
              <a:t> Logs can be modified or deleted by malicious actors</a:t>
            </a:r>
            <a:endParaRPr lang="en-US">
              <a:ea typeface="Cambria"/>
            </a:endParaRPr>
          </a:p>
          <a:p>
            <a:pPr>
              <a:lnSpc>
                <a:spcPct val="150000"/>
              </a:lnSpc>
            </a:pPr>
            <a:r>
              <a:rPr lang="en-US" b="1"/>
              <a:t>Insider Threats:</a:t>
            </a:r>
            <a:r>
              <a:rPr lang="en-US"/>
              <a:t> System administrators can manipulate audit trails</a:t>
            </a:r>
            <a:endParaRPr lang="en-US">
              <a:ea typeface="Cambria"/>
            </a:endParaRPr>
          </a:p>
          <a:p>
            <a:pPr>
              <a:lnSpc>
                <a:spcPct val="150000"/>
              </a:lnSpc>
            </a:pPr>
            <a:r>
              <a:rPr lang="en-US" b="1"/>
              <a:t>Limited Integrity Assurance:</a:t>
            </a:r>
            <a:r>
              <a:rPr lang="en-US"/>
              <a:t> No cryptographic proof of log authenticity</a:t>
            </a:r>
            <a:endParaRPr lang="en-US">
              <a:ea typeface="Cambria"/>
            </a:endParaRPr>
          </a:p>
          <a:p>
            <a:endParaRPr lang="en-US"/>
          </a:p>
        </p:txBody>
      </p:sp>
      <p:sp>
        <p:nvSpPr>
          <p:cNvPr id="9" name="Callout: Right Arrow 8">
            <a:extLst>
              <a:ext uri="{FF2B5EF4-FFF2-40B4-BE49-F238E27FC236}">
                <a16:creationId xmlns:a16="http://schemas.microsoft.com/office/drawing/2014/main" id="{E01FFF58-DF76-3B73-48DB-0DC6B951771D}"/>
              </a:ext>
            </a:extLst>
          </p:cNvPr>
          <p:cNvSpPr/>
          <p:nvPr/>
        </p:nvSpPr>
        <p:spPr>
          <a:xfrm>
            <a:off x="1166949" y="3365908"/>
            <a:ext cx="5269230" cy="2579556"/>
          </a:xfrm>
          <a:prstGeom prst="rightArrowCallou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>
              <a:solidFill>
                <a:schemeClr val="tx1"/>
              </a:solidFill>
            </a:endParaRPr>
          </a:p>
          <a:p>
            <a:endParaRPr lang="en-US" b="1">
              <a:solidFill>
                <a:schemeClr val="tx1"/>
              </a:solidFill>
            </a:endParaRPr>
          </a:p>
          <a:p>
            <a:r>
              <a:rPr lang="en-US" b="1">
                <a:solidFill>
                  <a:schemeClr val="tx1"/>
                </a:solidFill>
              </a:rPr>
              <a:t>❌ Current Shortcomings</a:t>
            </a:r>
          </a:p>
          <a:p>
            <a:endParaRPr lang="en-US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Centralized control vulnerabilities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Log tampering possibilities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Insider threat exploitation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Internet-dependent blockchain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High resource consumption</a:t>
            </a:r>
          </a:p>
          <a:p>
            <a:r>
              <a:rPr lang="en-US" b="1">
                <a:solidFill>
                  <a:schemeClr val="tx1"/>
                </a:solidFill>
              </a:rPr>
              <a:t> </a:t>
            </a:r>
          </a:p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C56C10-F442-CB99-333D-768F9E69FCE9}"/>
              </a:ext>
            </a:extLst>
          </p:cNvPr>
          <p:cNvSpPr/>
          <p:nvPr/>
        </p:nvSpPr>
        <p:spPr>
          <a:xfrm>
            <a:off x="6854522" y="3365908"/>
            <a:ext cx="4170529" cy="2579556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✅ Our Solutions</a:t>
            </a:r>
          </a:p>
          <a:p>
            <a:endParaRPr lang="en-US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Distributed validation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Cryptographic hash chains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Multi-node consensus mechanism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LAN-optimized lightweight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Efficient Proof-of-Authority consensus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81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134ED-14A4-B38F-81B3-4A017E95A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3B375E-786E-E6D2-8FFA-555B7B6166FB}"/>
              </a:ext>
            </a:extLst>
          </p:cNvPr>
          <p:cNvSpPr txBox="1"/>
          <p:nvPr/>
        </p:nvSpPr>
        <p:spPr>
          <a:xfrm>
            <a:off x="748606" y="0"/>
            <a:ext cx="106947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Blockchain-Based Dual-Logging System For 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B6C384-03FE-C332-679F-B64BC950906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IT22892744</a:t>
            </a:r>
            <a:r>
              <a:rPr lang="en-US" sz="1800">
                <a:solidFill>
                  <a:schemeClr val="tx1"/>
                </a:solidFill>
              </a:rPr>
              <a:t>   |   Dias W P S  |   </a:t>
            </a:r>
            <a:r>
              <a:rPr lang="en-US" sz="1800" b="0">
                <a:solidFill>
                  <a:schemeClr val="tx1"/>
                </a:solidFill>
              </a:rPr>
              <a:t>25 – 26J - 067</a:t>
            </a:r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12562C92-6131-F277-78AA-202AFB884438}"/>
              </a:ext>
            </a:extLst>
          </p:cNvPr>
          <p:cNvSpPr/>
          <p:nvPr/>
        </p:nvSpPr>
        <p:spPr>
          <a:xfrm>
            <a:off x="712321" y="1317170"/>
            <a:ext cx="10676555" cy="2248506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Key Domains of Cyber Security Knowledge </a:t>
            </a:r>
          </a:p>
          <a:p>
            <a:endParaRPr lang="en-US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</a:rPr>
              <a:t>Cryptography</a:t>
            </a:r>
            <a:r>
              <a:rPr lang="en-US">
                <a:solidFill>
                  <a:schemeClr val="tx1"/>
                </a:solidFill>
              </a:rPr>
              <a:t>: Hash functions, Digital signatures, Merkle trees, Key management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</a:rPr>
              <a:t>Network Security</a:t>
            </a:r>
            <a:r>
              <a:rPr lang="en-US">
                <a:solidFill>
                  <a:schemeClr val="tx1"/>
                </a:solidFill>
              </a:rPr>
              <a:t>: LAN security protocols, Intrusion detection, Secure communications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</a:rPr>
              <a:t>Digital Forensics</a:t>
            </a:r>
            <a:r>
              <a:rPr lang="en-US">
                <a:solidFill>
                  <a:schemeClr val="tx1"/>
                </a:solidFill>
              </a:rPr>
              <a:t>: Evidence preservation, Chain of custody, Log analysis, Incident response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</a:rPr>
              <a:t>Distributed Systems:</a:t>
            </a:r>
            <a:r>
              <a:rPr lang="en-US">
                <a:solidFill>
                  <a:schemeClr val="tx1"/>
                </a:solidFill>
              </a:rPr>
              <a:t> Consensus algorithms, Fault tolerance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algn="ctr"/>
            <a:endParaRPr lang="en-US"/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81FDF022-EACA-0601-2802-283344BA5DCD}"/>
              </a:ext>
            </a:extLst>
          </p:cNvPr>
          <p:cNvSpPr/>
          <p:nvPr/>
        </p:nvSpPr>
        <p:spPr>
          <a:xfrm>
            <a:off x="691851" y="3699098"/>
            <a:ext cx="10692280" cy="2460174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b="1">
              <a:solidFill>
                <a:schemeClr val="tx1"/>
              </a:solidFill>
            </a:endParaRPr>
          </a:p>
          <a:p>
            <a:r>
              <a:rPr lang="en-US" b="1">
                <a:solidFill>
                  <a:schemeClr val="tx1"/>
                </a:solidFill>
              </a:rPr>
              <a:t>Technologies Utilized</a:t>
            </a:r>
            <a:r>
              <a:rPr lang="en-US">
                <a:solidFill>
                  <a:schemeClr val="tx1"/>
                </a:solidFill>
              </a:rPr>
              <a:t> 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</a:rPr>
              <a:t>Blockchain Technology </a:t>
            </a:r>
            <a:r>
              <a:rPr lang="en-US">
                <a:solidFill>
                  <a:schemeClr val="tx1"/>
                </a:solidFill>
              </a:rPr>
              <a:t>- immutable logging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</a:rPr>
              <a:t>Proof-of-Authority Consensus </a:t>
            </a:r>
            <a:r>
              <a:rPr lang="en-US">
                <a:solidFill>
                  <a:schemeClr val="tx1"/>
                </a:solidFill>
              </a:rPr>
              <a:t>- energy efficiency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</a:rPr>
              <a:t>SHA-256</a:t>
            </a:r>
            <a:r>
              <a:rPr lang="en-US">
                <a:solidFill>
                  <a:schemeClr val="tx1"/>
                </a:solidFill>
              </a:rPr>
              <a:t> Cryptographic Hashing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</a:rPr>
              <a:t>Digital Timestamps</a:t>
            </a:r>
            <a:r>
              <a:rPr lang="en-US">
                <a:solidFill>
                  <a:schemeClr val="tx1"/>
                </a:solidFill>
              </a:rPr>
              <a:t> 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>
              <a:solidFill>
                <a:schemeClr val="tx1"/>
              </a:solidFill>
              <a:ea typeface="Cambri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</a:rPr>
              <a:t>Merkle Tree </a:t>
            </a:r>
            <a:r>
              <a:rPr lang="en-US">
                <a:solidFill>
                  <a:schemeClr val="tx1"/>
                </a:solidFill>
              </a:rPr>
              <a:t>Structure for efficient verification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25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CFF48-4D1C-9C06-8C1A-37CCB713E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29B17B-BFC7-B614-DFBA-284016EEBAA0}"/>
              </a:ext>
            </a:extLst>
          </p:cNvPr>
          <p:cNvSpPr txBox="1"/>
          <p:nvPr/>
        </p:nvSpPr>
        <p:spPr>
          <a:xfrm>
            <a:off x="748606" y="0"/>
            <a:ext cx="106947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Blockchain-Based Dual-Logging System For 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6C0ECD-43FC-301E-9EA3-BB75EFA72BF9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IT22892744</a:t>
            </a:r>
            <a:r>
              <a:rPr lang="en-US" sz="1800">
                <a:solidFill>
                  <a:schemeClr val="tx1"/>
                </a:solidFill>
              </a:rPr>
              <a:t>   |   Dias W P S  |   </a:t>
            </a:r>
            <a:r>
              <a:rPr lang="en-US" sz="1800" b="0">
                <a:solidFill>
                  <a:schemeClr val="tx1"/>
                </a:solidFill>
              </a:rPr>
              <a:t>25 – 26J - 067</a:t>
            </a:r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B1553D31-D43D-C6AD-0431-B9BB1235AF60}"/>
              </a:ext>
            </a:extLst>
          </p:cNvPr>
          <p:cNvSpPr/>
          <p:nvPr/>
        </p:nvSpPr>
        <p:spPr>
          <a:xfrm>
            <a:off x="366111" y="1351057"/>
            <a:ext cx="5649685" cy="3034696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000" b="1">
                <a:solidFill>
                  <a:schemeClr val="tx1"/>
                </a:solidFill>
              </a:rPr>
              <a:t>Success Evaluation &amp; Validation Methods</a:t>
            </a:r>
            <a:r>
              <a:rPr lang="en-US" sz="2000">
                <a:solidFill>
                  <a:schemeClr val="tx1"/>
                </a:solidFill>
              </a:rPr>
              <a:t> :</a:t>
            </a:r>
            <a:endParaRPr lang="en-US" sz="2000">
              <a:solidFill>
                <a:schemeClr val="tx1"/>
              </a:solidFill>
              <a:ea typeface="Cambria"/>
            </a:endParaRP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Performance Metrics</a:t>
            </a:r>
          </a:p>
          <a:p>
            <a:r>
              <a:rPr lang="en-US">
                <a:solidFill>
                  <a:schemeClr val="tx1"/>
                </a:solidFill>
              </a:rPr>
              <a:t>Security Validation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r>
              <a:rPr lang="en-US">
                <a:solidFill>
                  <a:schemeClr val="tx1"/>
                </a:solidFill>
              </a:rPr>
              <a:t>Legal Compliance</a:t>
            </a:r>
            <a:endParaRPr lang="en-US">
              <a:solidFill>
                <a:schemeClr val="tx1"/>
              </a:solidFill>
              <a:ea typeface="Cambria"/>
            </a:endParaRP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E62B7885-0090-A62D-10F7-521AA172E2E6}"/>
              </a:ext>
            </a:extLst>
          </p:cNvPr>
          <p:cNvSpPr/>
          <p:nvPr/>
        </p:nvSpPr>
        <p:spPr>
          <a:xfrm>
            <a:off x="6291944" y="1388533"/>
            <a:ext cx="5649685" cy="3045581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000" b="1">
                <a:solidFill>
                  <a:schemeClr val="tx1"/>
                </a:solidFill>
              </a:rPr>
              <a:t>Data Availability &amp; Ethical Clearance </a:t>
            </a:r>
          </a:p>
          <a:p>
            <a:endParaRPr lang="en-US" b="1">
              <a:solidFill>
                <a:schemeClr val="tx1"/>
              </a:solidFill>
            </a:endParaRPr>
          </a:p>
          <a:p>
            <a:r>
              <a:rPr lang="en-US" b="1">
                <a:solidFill>
                  <a:schemeClr val="tx1"/>
                </a:solidFill>
              </a:rPr>
              <a:t>Data Sources:</a:t>
            </a:r>
            <a:r>
              <a:rPr lang="en-US">
                <a:solidFill>
                  <a:schemeClr val="tx1"/>
                </a:solidFill>
              </a:rPr>
              <a:t> Synthetic logs, University lab data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r>
              <a:rPr lang="en-US" b="1">
                <a:solidFill>
                  <a:schemeClr val="tx1"/>
                </a:solidFill>
              </a:rPr>
              <a:t>Ethics:</a:t>
            </a:r>
            <a:r>
              <a:rPr lang="en-US">
                <a:solidFill>
                  <a:schemeClr val="tx1"/>
                </a:solidFill>
              </a:rPr>
              <a:t> IRB approval, No personal data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r>
              <a:rPr lang="en-US" b="1">
                <a:solidFill>
                  <a:schemeClr val="tx1"/>
                </a:solidFill>
              </a:rPr>
              <a:t>Compliance:</a:t>
            </a:r>
            <a:r>
              <a:rPr lang="en-US">
                <a:solidFill>
                  <a:schemeClr val="tx1"/>
                </a:solidFill>
              </a:rPr>
              <a:t> GDPR protocols, Anonymized metadata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61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40F8-1BD1-D9E4-6034-2A5359D69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37B4BF-22D7-E1E8-5683-8AA8BAA290C9}"/>
              </a:ext>
            </a:extLst>
          </p:cNvPr>
          <p:cNvSpPr txBox="1"/>
          <p:nvPr/>
        </p:nvSpPr>
        <p:spPr>
          <a:xfrm>
            <a:off x="748606" y="0"/>
            <a:ext cx="106947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Blockchain-Based Dual-Logging System For 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BF9FD7-7007-9BBB-9B45-1B41A12EEC9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IT22892744</a:t>
            </a:r>
            <a:r>
              <a:rPr lang="en-US" sz="1800">
                <a:solidFill>
                  <a:schemeClr val="tx1"/>
                </a:solidFill>
              </a:rPr>
              <a:t>   |   Dias W P S  |   </a:t>
            </a:r>
            <a:r>
              <a:rPr lang="en-US" sz="1800" b="0">
                <a:solidFill>
                  <a:schemeClr val="tx1"/>
                </a:solidFill>
              </a:rPr>
              <a:t>25 – 26J - 067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2172E5-465E-83D4-78B0-560ADCD58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14" y="1239286"/>
            <a:ext cx="9890746" cy="1897799"/>
          </a:xfrm>
          <a:prstGeom prst="rect">
            <a:avLst/>
          </a:prstGeom>
        </p:spPr>
      </p:pic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0042610B-B21C-2CD4-E5B2-0057865A111F}"/>
              </a:ext>
            </a:extLst>
          </p:cNvPr>
          <p:cNvSpPr/>
          <p:nvPr/>
        </p:nvSpPr>
        <p:spPr>
          <a:xfrm>
            <a:off x="1409699" y="3813628"/>
            <a:ext cx="9372600" cy="2122866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79552F-95ED-DE49-43C8-B7BF14FAC854}"/>
              </a:ext>
            </a:extLst>
          </p:cNvPr>
          <p:cNvSpPr txBox="1"/>
          <p:nvPr/>
        </p:nvSpPr>
        <p:spPr>
          <a:xfrm>
            <a:off x="2479456" y="4184948"/>
            <a:ext cx="6918473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/>
              <a:t>Real world Usage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User shares a confidential financial file with receiver.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Blockchain records tamper-proof log entry (time, file hash, IDs).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Both the user &amp; receiver verify the log independently in real-time.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15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D25CF-FD72-C0CD-0375-ED8A6E340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71" y="304800"/>
            <a:ext cx="11684000" cy="792162"/>
          </a:xfrm>
        </p:spPr>
        <p:txBody>
          <a:bodyPr>
            <a:normAutofit fontScale="90000"/>
          </a:bodyPr>
          <a:lstStyle/>
          <a:p>
            <a:r>
              <a:rPr lang="en-GB">
                <a:latin typeface="Adobe Devanagari"/>
              </a:rPr>
              <a:t>Ability of Co</a:t>
            </a:r>
            <a:r>
              <a:rPr lang="en-US">
                <a:latin typeface="Adobe Devanagari"/>
              </a:rPr>
              <a:t>“SafeLAN”: Adaptive Secure File System for LAN environment</a:t>
            </a:r>
            <a:r>
              <a:rPr lang="en-GB">
                <a:latin typeface="Adobe Devanagari"/>
              </a:rPr>
              <a:t>mmercialization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37652-8E7B-2595-5821-D14B20B2A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77" y="1994647"/>
            <a:ext cx="11684000" cy="40722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Cambria"/>
              </a:rPr>
              <a:t>Target Marketplace : Small to Medium scaled organizations.</a:t>
            </a:r>
          </a:p>
          <a:p>
            <a:endParaRPr lang="en-GB">
              <a:ea typeface="Cambria"/>
            </a:endParaRPr>
          </a:p>
          <a:p>
            <a:endParaRPr lang="en-GB">
              <a:ea typeface="Cambria"/>
            </a:endParaRPr>
          </a:p>
          <a:p>
            <a:endParaRPr lang="en-GB">
              <a:ea typeface="Cambria"/>
            </a:endParaRPr>
          </a:p>
          <a:p>
            <a:endParaRPr lang="en-GB">
              <a:ea typeface="Cambria"/>
            </a:endParaRPr>
          </a:p>
          <a:p>
            <a:endParaRPr lang="en-GB">
              <a:ea typeface="Cambria"/>
            </a:endParaRPr>
          </a:p>
          <a:p>
            <a:endParaRPr lang="en-GB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242871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C609B-7291-E117-E39E-64D446352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8849DD-6314-0A03-E89F-CE0071430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 anchor="ctr">
            <a:normAutofit/>
          </a:bodyPr>
          <a:lstStyle/>
          <a:p>
            <a:r>
              <a:rPr lang="en-US"/>
              <a:t>THANK YOU</a:t>
            </a:r>
          </a:p>
        </p:txBody>
      </p:sp>
      <p:pic>
        <p:nvPicPr>
          <p:cNvPr id="3" name="Picture 2" descr="A blue card with a globe and dots&#10;&#10;AI-generated content may be incorrect.">
            <a:extLst>
              <a:ext uri="{FF2B5EF4-FFF2-40B4-BE49-F238E27FC236}">
                <a16:creationId xmlns:a16="http://schemas.microsoft.com/office/drawing/2014/main" id="{9AA1BA72-CCFC-B65E-21B4-9A7911EC4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59"/>
          <a:stretch>
            <a:fillRect/>
          </a:stretch>
        </p:blipFill>
        <p:spPr>
          <a:xfrm>
            <a:off x="304800" y="1143000"/>
            <a:ext cx="11684000" cy="5181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75304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faca268-e3b2-4935-9488-571ad382c36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FCAD72F4CCFB45A09406EB35919E92" ma:contentTypeVersion="15" ma:contentTypeDescription="Create a new document." ma:contentTypeScope="" ma:versionID="e4bcaddd2a23b64f764f5760b54e7c33">
  <xsd:schema xmlns:xsd="http://www.w3.org/2001/XMLSchema" xmlns:xs="http://www.w3.org/2001/XMLSchema" xmlns:p="http://schemas.microsoft.com/office/2006/metadata/properties" xmlns:ns3="afaca268-e3b2-4935-9488-571ad382c364" xmlns:ns4="162a7144-2f0e-4714-bb73-c0ccd69df26f" targetNamespace="http://schemas.microsoft.com/office/2006/metadata/properties" ma:root="true" ma:fieldsID="e487154ff8d93d8ec3a85638b30a3dc1" ns3:_="" ns4:_="">
    <xsd:import namespace="afaca268-e3b2-4935-9488-571ad382c364"/>
    <xsd:import namespace="162a7144-2f0e-4714-bb73-c0ccd69df26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aca268-e3b2-4935-9488-571ad382c3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2a7144-2f0e-4714-bb73-c0ccd69df26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277F76-1780-466B-A13A-E95E5A6AC9C1}">
  <ds:schemaRefs>
    <ds:schemaRef ds:uri="162a7144-2f0e-4714-bb73-c0ccd69df26f"/>
    <ds:schemaRef ds:uri="afaca268-e3b2-4935-9488-571ad382c36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423E749-0000-4E2E-AFAE-F0375B942D85}">
  <ds:schemaRefs>
    <ds:schemaRef ds:uri="162a7144-2f0e-4714-bb73-c0ccd69df26f"/>
    <ds:schemaRef ds:uri="afaca268-e3b2-4935-9488-571ad382c36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EECDA20-4C66-4D08-91EB-782EF44CEB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Proposal-Presentation-Template</Template>
  <Application>Microsoft Office PowerPoint</Application>
  <PresentationFormat>Widescreen</PresentationFormat>
  <Slides>27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SafeLAN: Adaptive Secure File System for LAN environment</vt:lpstr>
      <vt:lpstr>Introduction</vt:lpstr>
      <vt:lpstr>Research problem</vt:lpstr>
      <vt:lpstr>Research Objectives</vt:lpstr>
      <vt:lpstr>System Diagram</vt:lpstr>
      <vt:lpstr>BEHAVIOURAL BIOMETRICS-BASED ADAPTIVE AUTHENTICATION MODULE FOR safELAN </vt:lpstr>
      <vt:lpstr>Behavioural Biometrics-Based Adaptive Authentication Module for SafeLAN</vt:lpstr>
      <vt:lpstr>Behavioural Biometrics-Based Adaptive Authentication Module for SafeLAN</vt:lpstr>
      <vt:lpstr>Behavioural Biometrics-Based Adaptive Authentication Module for SafeLAN</vt:lpstr>
      <vt:lpstr>Behavioural Biometrics-Based Adaptive Authentication Module for SafeLAN</vt:lpstr>
      <vt:lpstr>Behavior Anomaly Detection using Machine Learning to Ensure Continuous Authentication</vt:lpstr>
      <vt:lpstr>Behavior Anomaly Detection using Machine Learning to Ensure Continuous Authentication </vt:lpstr>
      <vt:lpstr>Technologies and Tools </vt:lpstr>
      <vt:lpstr>Behavior Anomaly Detection using Machine Learning to Ensure Continuous Authentication </vt:lpstr>
      <vt:lpstr>Behavior Anomaly Detection using Machine Learning to Ensure Continuous Authentication </vt:lpstr>
      <vt:lpstr>Secure file viewing with a new biometric to lockdown browser</vt:lpstr>
      <vt:lpstr>Secure file viewing with a new  biometric to lockdown browser </vt:lpstr>
      <vt:lpstr>Secure file viewing with a new  biometric to lockdown browser  </vt:lpstr>
      <vt:lpstr>Secure file viewing with a new  biometric to lockdown browser  </vt:lpstr>
      <vt:lpstr>Secure file viewing with a new  biometric to lockdown browser</vt:lpstr>
      <vt:lpstr>Blockchain-Based Dual-Logging System For LAN </vt:lpstr>
      <vt:lpstr>PowerPoint Presentation</vt:lpstr>
      <vt:lpstr>PowerPoint Presentation</vt:lpstr>
      <vt:lpstr>PowerPoint Presentation</vt:lpstr>
      <vt:lpstr>PowerPoint Presentation</vt:lpstr>
      <vt:lpstr>Ability of Co“SafeLAN”: Adaptive Secure File System for LAN environmentmmercialization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HIRIMUTHUGODA N A it22323002</dc:creator>
  <cp:revision>81</cp:revision>
  <dcterms:created xsi:type="dcterms:W3CDTF">2025-09-08T16:09:34Z</dcterms:created>
  <dcterms:modified xsi:type="dcterms:W3CDTF">2026-01-05T17:45:40Z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0x010100B4FCAD72F4CCFB45A09406EB35919E92</vt:lpwstr>
  </property>
</Properties>
</file>