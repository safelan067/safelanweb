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4"/>
  </p:notesMasterIdLst>
  <p:handoutMasterIdLst>
    <p:handoutMasterId r:id="rId25"/>
  </p:handoutMasterIdLst>
  <p:sldIdLst>
    <p:sldId id="277" r:id="rId5"/>
    <p:sldId id="270" r:id="rId6"/>
    <p:sldId id="293" r:id="rId7"/>
    <p:sldId id="328" r:id="rId8"/>
    <p:sldId id="274" r:id="rId9"/>
    <p:sldId id="330" r:id="rId10"/>
    <p:sldId id="332" r:id="rId11"/>
    <p:sldId id="331" r:id="rId12"/>
    <p:sldId id="287" r:id="rId13"/>
    <p:sldId id="289" r:id="rId14"/>
    <p:sldId id="312" r:id="rId15"/>
    <p:sldId id="327" r:id="rId16"/>
    <p:sldId id="308" r:id="rId17"/>
    <p:sldId id="299" r:id="rId18"/>
    <p:sldId id="325" r:id="rId19"/>
    <p:sldId id="317" r:id="rId20"/>
    <p:sldId id="318" r:id="rId21"/>
    <p:sldId id="313" r:id="rId22"/>
    <p:sldId id="32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67DB1E-B3D9-A6CC-3039-8C7588DE051C}" v="237" dt="2026-01-30T16:59:53.157"/>
    <p1510:client id="{8DBECD68-78F2-F86F-9118-A4D3AFE612DC}" v="10" dt="2026-01-30T12:04:46.654"/>
    <p1510:client id="{A9653DF6-DA4C-7CA6-324C-B4AE346C764C}" v="10" dt="2026-01-31T06:01:15.553"/>
    <p1510:client id="{B823CF2B-B5A2-7CB1-F20E-76B3B32CBAB0}" v="34" dt="2026-01-31T05:27:30.832"/>
    <p1510:client id="{CEF8A7BA-5C55-F04B-C6C2-F0464F9E8C9A}" v="187" dt="2026-01-30T22:30:38.893"/>
    <p1510:client id="{D037F73D-31A9-630D-14E9-6167A321D822}" v="7" dt="2026-01-31T03:08:18.6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1/30/2026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solution addresses the identified sub-problem by introducing a dual-visibility blockchain explorer for the SafeLAN system. The main objective is to provide tamper-proof audit logging for file access activities while avoiding unnecessary exposure of sensitive blockchain data. By using a Proof-of-Authority consensus mechanism, only trusted system authorities are allowed to validate and add blocks, which ensures both data integrity and controlled access within the LAN environment.</a:t>
            </a:r>
          </a:p>
          <a:p>
            <a:r>
              <a:rPr lang="en-US"/>
              <a:t> </a:t>
            </a:r>
            <a:endParaRPr lang="en-US">
              <a:ea typeface="Calibri"/>
              <a:cs typeface="Calibri"/>
            </a:endParaRPr>
          </a:p>
          <a:p>
            <a:r>
              <a:rPr lang="en-US"/>
              <a:t>From a user requirements perspective, the solution allows regular users to view only their own transaction and file access logs, while administrators are able to audit the full blockchain for monitoring and compliance purposes. The system is designed to operate entirely within an offline local area network, without relying on public blockchains or internet connectivity, while still ensuring immutability, traceability, and accountability of file access events.</a:t>
            </a:r>
            <a:endParaRPr lang="en-US">
              <a:ea typeface="Calibri"/>
              <a:cs typeface="Calibri"/>
            </a:endParaRPr>
          </a:p>
          <a:p>
            <a:r>
              <a:rPr lang="en-US"/>
              <a:t> </a:t>
            </a:r>
            <a:endParaRPr lang="en-US">
              <a:ea typeface="Calibri"/>
              <a:cs typeface="Calibri"/>
            </a:endParaRPr>
          </a:p>
          <a:p>
            <a:r>
              <a:rPr lang="en-US"/>
              <a:t>In terms of design excellence, the solution implements dual visibility to balance transparency and privacy, and uses a Proof-of-Authority blockchain that is efficient and suitable for permissioned environments. The architecture clearly separates the GUI, API, and blockchain layers, improving maintainability and security. Additionally, a user-friendly desktop blockchain explorer was developed, supporting search, refresh, and real-time log viewing, making it easy for both users and administrators to interact with the system.</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6C0B8AC8-E212-48B2-9917-7448FC83DD17}" type="slidenum">
              <a:rPr lang="en-US" smtClean="0"/>
              <a:t>16</a:t>
            </a:fld>
            <a:endParaRPr lang="en-US"/>
          </a:p>
        </p:txBody>
      </p:sp>
    </p:spTree>
    <p:extLst>
      <p:ext uri="{BB962C8B-B14F-4D97-AF65-F5344CB8AC3E}">
        <p14:creationId xmlns:p14="http://schemas.microsoft.com/office/powerpoint/2010/main" val="3156595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initial prototype feedback, users found the blockchain explorer intuitive and easy to use, and it increased their confidence in the system’s transparency. Administrators particularly appreciated the clarity and reliability of the immutable audit logs, which support effective monitoring and investigation.</a:t>
            </a:r>
          </a:p>
        </p:txBody>
      </p:sp>
      <p:sp>
        <p:nvSpPr>
          <p:cNvPr id="4" name="Slide Number Placeholder 3"/>
          <p:cNvSpPr>
            <a:spLocks noGrp="1"/>
          </p:cNvSpPr>
          <p:nvPr>
            <p:ph type="sldNum" sz="quarter" idx="5"/>
          </p:nvPr>
        </p:nvSpPr>
        <p:spPr/>
        <p:txBody>
          <a:bodyPr/>
          <a:lstStyle/>
          <a:p>
            <a:fld id="{6C0B8AC8-E212-48B2-9917-7448FC83DD17}" type="slidenum">
              <a:rPr lang="en-US" smtClean="0"/>
              <a:t>17</a:t>
            </a:fld>
            <a:endParaRPr lang="en-US"/>
          </a:p>
        </p:txBody>
      </p:sp>
    </p:spTree>
    <p:extLst>
      <p:ext uri="{BB962C8B-B14F-4D97-AF65-F5344CB8AC3E}">
        <p14:creationId xmlns:p14="http://schemas.microsoft.com/office/powerpoint/2010/main" val="2406325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overall idea of this solution is to improve security and accountability within Local Area Network environments by integrating multiple security mechanisms into a single system. The solution is primarily targeted at </a:t>
            </a:r>
            <a:r>
              <a:rPr lang="en-US" b="1"/>
              <a:t>small to medium scale organizations</a:t>
            </a:r>
            <a:r>
              <a:rPr lang="en-US"/>
              <a:t>, such as educational institutions, offices, and government departments, where internal file sharing is common and security resources are often limited.</a:t>
            </a:r>
          </a:p>
        </p:txBody>
      </p:sp>
      <p:sp>
        <p:nvSpPr>
          <p:cNvPr id="4" name="Slide Number Placeholder 3"/>
          <p:cNvSpPr>
            <a:spLocks noGrp="1"/>
          </p:cNvSpPr>
          <p:nvPr>
            <p:ph type="sldNum" sz="quarter" idx="5"/>
          </p:nvPr>
        </p:nvSpPr>
        <p:spPr/>
        <p:txBody>
          <a:bodyPr/>
          <a:lstStyle/>
          <a:p>
            <a:fld id="{6C0B8AC8-E212-48B2-9917-7448FC83DD17}" type="slidenum">
              <a:rPr lang="en-US" smtClean="0"/>
              <a:t>18</a:t>
            </a:fld>
            <a:endParaRPr lang="en-US"/>
          </a:p>
        </p:txBody>
      </p:sp>
    </p:spTree>
    <p:extLst>
      <p:ext uri="{BB962C8B-B14F-4D97-AF65-F5344CB8AC3E}">
        <p14:creationId xmlns:p14="http://schemas.microsoft.com/office/powerpoint/2010/main" val="2908715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1/30/2026</a:t>
            </a:fld>
            <a:endParaRPr lang="en-US" sz="1200" b="1"/>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folder with a lock&#10;&#10;AI-generated content may be incorrect.">
            <a:extLst>
              <a:ext uri="{FF2B5EF4-FFF2-40B4-BE49-F238E27FC236}">
                <a16:creationId xmlns:a16="http://schemas.microsoft.com/office/drawing/2014/main" id="{EF7DBD87-3D59-454B-79FA-FCB2FDB82C9A}"/>
              </a:ext>
            </a:extLst>
          </p:cNvPr>
          <p:cNvPicPr>
            <a:picLocks noChangeAspect="1"/>
          </p:cNvPicPr>
          <p:nvPr/>
        </p:nvPicPr>
        <p:blipFill>
          <a:blip r:embed="rId2">
            <a:alphaModFix amt="10000"/>
            <a:extLst>
              <a:ext uri="{BEBA8EAE-BF5A-486C-A8C5-ECC9F3942E4B}">
                <a14:imgProps xmlns:a14="http://schemas.microsoft.com/office/drawing/2010/main">
                  <a14:imgLayer r:embed="rId3">
                    <a14:imgEffect>
                      <a14:brightnessContrast/>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B475E098-F3D0-453C-BBF5-A7C840F21FD8}"/>
              </a:ext>
            </a:extLst>
          </p:cNvPr>
          <p:cNvSpPr>
            <a:spLocks noGrp="1"/>
          </p:cNvSpPr>
          <p:nvPr>
            <p:ph type="ctrTitle"/>
          </p:nvPr>
        </p:nvSpPr>
        <p:spPr>
          <a:xfrm>
            <a:off x="914400" y="1496122"/>
            <a:ext cx="10363200" cy="1470025"/>
          </a:xfrm>
        </p:spPr>
        <p:txBody>
          <a:bodyPr/>
          <a:lstStyle/>
          <a:p>
            <a:r>
              <a:rPr lang="en-US" err="1">
                <a:latin typeface="Adobe Devanagari"/>
              </a:rPr>
              <a:t>SafeLAN</a:t>
            </a:r>
            <a:r>
              <a:rPr lang="en-US">
                <a:latin typeface="Adobe Devanagari"/>
              </a:rPr>
              <a:t>: Adaptive Secure File System for LAN environment</a:t>
            </a:r>
          </a:p>
        </p:txBody>
      </p:sp>
      <p:sp>
        <p:nvSpPr>
          <p:cNvPr id="5" name="Subtitle 4">
            <a:extLst>
              <a:ext uri="{FF2B5EF4-FFF2-40B4-BE49-F238E27FC236}">
                <a16:creationId xmlns:a16="http://schemas.microsoft.com/office/drawing/2014/main" id="{288F3F03-40A0-499D-BDCC-A8E886D9D7C4}"/>
              </a:ext>
            </a:extLst>
          </p:cNvPr>
          <p:cNvSpPr>
            <a:spLocks noGrp="1"/>
          </p:cNvSpPr>
          <p:nvPr>
            <p:ph type="subTitle" idx="1"/>
          </p:nvPr>
        </p:nvSpPr>
        <p:spPr>
          <a:xfrm>
            <a:off x="1828800" y="3248722"/>
            <a:ext cx="8534400" cy="1752600"/>
          </a:xfrm>
        </p:spPr>
        <p:txBody>
          <a:bodyPr vert="horz" lIns="91440" tIns="45720" rIns="91440" bIns="45720" rtlCol="0" anchor="t">
            <a:normAutofit/>
          </a:bodyPr>
          <a:lstStyle/>
          <a:p>
            <a:r>
              <a:rPr lang="en-US">
                <a:solidFill>
                  <a:schemeClr val="tx1">
                    <a:lumMod val="50000"/>
                    <a:lumOff val="50000"/>
                  </a:schemeClr>
                </a:solidFill>
              </a:rPr>
              <a:t>RP-25-26J-067 </a:t>
            </a:r>
          </a:p>
        </p:txBody>
      </p:sp>
    </p:spTree>
    <p:extLst>
      <p:ext uri="{BB962C8B-B14F-4D97-AF65-F5344CB8AC3E}">
        <p14:creationId xmlns:p14="http://schemas.microsoft.com/office/powerpoint/2010/main" val="381388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FCB7-EC63-495B-9ED3-9E3A0892BB67}"/>
              </a:ext>
            </a:extLst>
          </p:cNvPr>
          <p:cNvSpPr>
            <a:spLocks noGrp="1"/>
          </p:cNvSpPr>
          <p:nvPr>
            <p:ph type="ctrTitle"/>
          </p:nvPr>
        </p:nvSpPr>
        <p:spPr>
          <a:xfrm>
            <a:off x="914400" y="639380"/>
            <a:ext cx="10363200" cy="1470025"/>
          </a:xfrm>
        </p:spPr>
        <p:txBody>
          <a:bodyPr/>
          <a:lstStyle/>
          <a:p>
            <a:r>
              <a:rPr lang="en-US"/>
              <a:t>Introduction</a:t>
            </a:r>
          </a:p>
        </p:txBody>
      </p:sp>
      <p:sp>
        <p:nvSpPr>
          <p:cNvPr id="3" name="Subtitle 2">
            <a:extLst>
              <a:ext uri="{FF2B5EF4-FFF2-40B4-BE49-F238E27FC236}">
                <a16:creationId xmlns:a16="http://schemas.microsoft.com/office/drawing/2014/main" id="{7EBE3555-8168-4DEE-B3B9-3186A75E168A}"/>
              </a:ext>
            </a:extLst>
          </p:cNvPr>
          <p:cNvSpPr>
            <a:spLocks noGrp="1"/>
          </p:cNvSpPr>
          <p:nvPr>
            <p:ph type="subTitle" idx="1"/>
          </p:nvPr>
        </p:nvSpPr>
        <p:spPr>
          <a:xfrm>
            <a:off x="1828800" y="2628462"/>
            <a:ext cx="8534400" cy="1293160"/>
          </a:xfrm>
        </p:spPr>
        <p:txBody>
          <a:bodyPr vert="horz" lIns="91440" tIns="45720" rIns="91440" bIns="45720" rtlCol="0" anchor="t">
            <a:normAutofit/>
          </a:bodyPr>
          <a:lstStyle/>
          <a:p>
            <a:r>
              <a:rPr lang="en-US" sz="2000" err="1">
                <a:solidFill>
                  <a:schemeClr val="tx1"/>
                </a:solidFill>
                <a:ea typeface="Cambria"/>
              </a:rPr>
              <a:t>SafeLAN</a:t>
            </a:r>
            <a:r>
              <a:rPr lang="en-US" sz="2000">
                <a:solidFill>
                  <a:schemeClr val="tx1"/>
                </a:solidFill>
                <a:ea typeface="Cambria"/>
              </a:rPr>
              <a:t> is a LAN-based secure file system that utilizes advanced mechanisms such as keystroke dynamics, mouse movements, hand gestures, blockchain technology to improve the current security state of file systems.</a:t>
            </a:r>
            <a:endParaRPr lang="en-US">
              <a:solidFill>
                <a:schemeClr val="tx1"/>
              </a:solidFill>
              <a:ea typeface="Cambria"/>
            </a:endParaRPr>
          </a:p>
        </p:txBody>
      </p:sp>
    </p:spTree>
    <p:extLst>
      <p:ext uri="{BB962C8B-B14F-4D97-AF65-F5344CB8AC3E}">
        <p14:creationId xmlns:p14="http://schemas.microsoft.com/office/powerpoint/2010/main" val="415095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FFD0-FBB5-7CAC-68FE-4AF21DFDA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034F1-FE4E-AD09-6AF4-7DEBC37F65A7}"/>
              </a:ext>
            </a:extLst>
          </p:cNvPr>
          <p:cNvSpPr>
            <a:spLocks noGrp="1"/>
          </p:cNvSpPr>
          <p:nvPr>
            <p:ph type="ctrTitle"/>
          </p:nvPr>
        </p:nvSpPr>
        <p:spPr>
          <a:xfrm>
            <a:off x="914400" y="3286191"/>
            <a:ext cx="10363200" cy="1470025"/>
          </a:xfrm>
        </p:spPr>
        <p:txBody>
          <a:bodyPr/>
          <a:lstStyle/>
          <a:p>
            <a:r>
              <a:rPr lang="en-US"/>
              <a:t>Research Objectives</a:t>
            </a:r>
          </a:p>
        </p:txBody>
      </p:sp>
      <p:sp>
        <p:nvSpPr>
          <p:cNvPr id="3" name="Subtitle 2">
            <a:extLst>
              <a:ext uri="{FF2B5EF4-FFF2-40B4-BE49-F238E27FC236}">
                <a16:creationId xmlns:a16="http://schemas.microsoft.com/office/drawing/2014/main" id="{381F4B05-5DFA-AF41-0623-5EE04DF3455A}"/>
              </a:ext>
            </a:extLst>
          </p:cNvPr>
          <p:cNvSpPr>
            <a:spLocks noGrp="1"/>
          </p:cNvSpPr>
          <p:nvPr>
            <p:ph type="subTitle" idx="1"/>
          </p:nvPr>
        </p:nvSpPr>
        <p:spPr>
          <a:xfrm>
            <a:off x="2826124" y="4846096"/>
            <a:ext cx="6237195" cy="1125071"/>
          </a:xfrm>
        </p:spPr>
        <p:txBody>
          <a:bodyPr vert="horz" lIns="91440" tIns="45720" rIns="91440" bIns="45720" rtlCol="0" anchor="t">
            <a:normAutofit/>
          </a:bodyPr>
          <a:lstStyle/>
          <a:p>
            <a:r>
              <a:rPr lang="en-US" sz="2000">
                <a:solidFill>
                  <a:schemeClr val="tx1"/>
                </a:solidFill>
                <a:ea typeface="Cambria"/>
              </a:rPr>
              <a:t>To build a secure desktop-based</a:t>
            </a:r>
            <a:r>
              <a:rPr lang="en-US" sz="2000">
                <a:solidFill>
                  <a:schemeClr val="tx1"/>
                </a:solidFill>
                <a:ea typeface="+mn-lt"/>
                <a:cs typeface="+mn-lt"/>
              </a:rPr>
              <a:t> file management system </a:t>
            </a:r>
            <a:r>
              <a:rPr lang="en-US" sz="2000">
                <a:solidFill>
                  <a:schemeClr val="tx1"/>
                </a:solidFill>
                <a:ea typeface="Cambria"/>
              </a:rPr>
              <a:t>for Local Area Network environments.</a:t>
            </a:r>
            <a:endParaRPr lang="en-US">
              <a:solidFill>
                <a:schemeClr val="tx1"/>
              </a:solidFill>
              <a:ea typeface="Cambria"/>
            </a:endParaRPr>
          </a:p>
        </p:txBody>
      </p:sp>
      <p:sp>
        <p:nvSpPr>
          <p:cNvPr id="5" name="Title 1">
            <a:extLst>
              <a:ext uri="{FF2B5EF4-FFF2-40B4-BE49-F238E27FC236}">
                <a16:creationId xmlns:a16="http://schemas.microsoft.com/office/drawing/2014/main" id="{CE93C821-73FD-D3B7-ACEE-A365C3917877}"/>
              </a:ext>
            </a:extLst>
          </p:cNvPr>
          <p:cNvSpPr txBox="1">
            <a:spLocks/>
          </p:cNvSpPr>
          <p:nvPr/>
        </p:nvSpPr>
        <p:spPr>
          <a:xfrm>
            <a:off x="914400" y="489232"/>
            <a:ext cx="103632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a:t>Research problem</a:t>
            </a:r>
          </a:p>
        </p:txBody>
      </p:sp>
      <p:sp>
        <p:nvSpPr>
          <p:cNvPr id="7" name="Subtitle 2">
            <a:extLst>
              <a:ext uri="{FF2B5EF4-FFF2-40B4-BE49-F238E27FC236}">
                <a16:creationId xmlns:a16="http://schemas.microsoft.com/office/drawing/2014/main" id="{87F3BDB6-3FF4-6F27-1987-E8B65E6E268F}"/>
              </a:ext>
            </a:extLst>
          </p:cNvPr>
          <p:cNvSpPr txBox="1">
            <a:spLocks/>
          </p:cNvSpPr>
          <p:nvPr/>
        </p:nvSpPr>
        <p:spPr>
          <a:xfrm>
            <a:off x="685032" y="1663159"/>
            <a:ext cx="10820399" cy="1602388"/>
          </a:xfrm>
          <a:prstGeom prst="rect">
            <a:avLst/>
          </a:prstGeom>
        </p:spPr>
        <p:txBody>
          <a:bodyPr vert="horz" lIns="91440" tIns="45720" rIns="91440" bIns="45720" rtlCol="0" anchor="t">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endParaRPr lang="en-US" sz="2000">
              <a:solidFill>
                <a:schemeClr val="tx1"/>
              </a:solidFill>
              <a:ea typeface="Cambria"/>
            </a:endParaRPr>
          </a:p>
          <a:p>
            <a:r>
              <a:rPr lang="en-US" sz="2000">
                <a:solidFill>
                  <a:schemeClr val="tx1"/>
                </a:solidFill>
                <a:ea typeface="+mn-lt"/>
                <a:cs typeface="+mn-lt"/>
              </a:rPr>
              <a:t>Many advanced security features today are internet or cloud-dependent. As a result, LAN only environments are left with much weaker protections. </a:t>
            </a:r>
            <a:endParaRPr lang="en-US">
              <a:solidFill>
                <a:schemeClr val="tx1"/>
              </a:solidFill>
              <a:ea typeface="Cambria"/>
            </a:endParaRPr>
          </a:p>
        </p:txBody>
      </p:sp>
    </p:spTree>
    <p:extLst>
      <p:ext uri="{BB962C8B-B14F-4D97-AF65-F5344CB8AC3E}">
        <p14:creationId xmlns:p14="http://schemas.microsoft.com/office/powerpoint/2010/main" val="2443309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p:txBody>
          <a:bodyPr/>
          <a:lstStyle/>
          <a:p>
            <a:r>
              <a:rPr lang="en-US">
                <a:latin typeface="Adobe Devanagari"/>
              </a:rPr>
              <a:t>IT22328298 | </a:t>
            </a:r>
            <a:r>
              <a:rPr lang="en-US" err="1">
                <a:latin typeface="Adobe Devanagari"/>
              </a:rPr>
              <a:t>Waidyarathne</a:t>
            </a:r>
            <a:r>
              <a:rPr lang="en-US">
                <a:latin typeface="Adobe Devanagari"/>
              </a:rPr>
              <a:t> u h a p g</a:t>
            </a:r>
            <a:endParaRPr lang="en-US"/>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normAutofit/>
          </a:bodyPr>
          <a:lstStyle/>
          <a:p>
            <a:r>
              <a:rPr lang="en-US" err="1">
                <a:solidFill>
                  <a:schemeClr val="tx1"/>
                </a:solidFill>
                <a:ea typeface="+mn-lt"/>
                <a:cs typeface="+mn-lt"/>
              </a:rPr>
              <a:t>Behavioural</a:t>
            </a:r>
            <a:r>
              <a:rPr lang="en-US">
                <a:solidFill>
                  <a:schemeClr val="tx1"/>
                </a:solidFill>
                <a:ea typeface="+mn-lt"/>
                <a:cs typeface="+mn-lt"/>
              </a:rPr>
              <a:t> Biometrics-Based Adaptive Authentication Module for </a:t>
            </a:r>
            <a:r>
              <a:rPr lang="en-US" err="1">
                <a:solidFill>
                  <a:schemeClr val="tx1"/>
                </a:solidFill>
                <a:ea typeface="+mn-lt"/>
                <a:cs typeface="+mn-lt"/>
              </a:rPr>
              <a:t>SafeLAN</a:t>
            </a:r>
            <a:endParaRPr lang="en-US" err="1">
              <a:solidFill>
                <a:schemeClr val="tx1"/>
              </a:solidFill>
            </a:endParaRPr>
          </a:p>
          <a:p>
            <a:endParaRPr lang="en-US"/>
          </a:p>
          <a:p>
            <a:endParaRPr lang="en-US"/>
          </a:p>
          <a:p>
            <a:r>
              <a:rPr lang="en-US">
                <a:solidFill>
                  <a:schemeClr val="tx1"/>
                </a:solidFill>
              </a:rPr>
              <a:t>Specialization: Cyber Security</a:t>
            </a:r>
            <a:endParaRPr lang="en-US">
              <a:solidFill>
                <a:schemeClr val="tx1"/>
              </a:solidFill>
              <a:ea typeface="Cambria"/>
            </a:endParaRP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IT22328298</a:t>
            </a:r>
            <a:r>
              <a:rPr lang="en-US" sz="1800">
                <a:solidFill>
                  <a:schemeClr val="tx1"/>
                </a:solidFill>
              </a:rPr>
              <a:t>| </a:t>
            </a:r>
            <a:r>
              <a:rPr lang="en-US" err="1">
                <a:solidFill>
                  <a:schemeClr val="tx1"/>
                </a:solidFill>
              </a:rPr>
              <a:t>Waidyarathne</a:t>
            </a:r>
            <a:r>
              <a:rPr lang="en-US">
                <a:solidFill>
                  <a:schemeClr val="tx1"/>
                </a:solidFill>
              </a:rPr>
              <a:t> U H A P G</a:t>
            </a:r>
            <a:r>
              <a:rPr lang="en-US" sz="1800" b="1">
                <a:solidFill>
                  <a:schemeClr val="tx1"/>
                </a:solidFill>
              </a:rPr>
              <a:t>   </a:t>
            </a:r>
            <a:r>
              <a:rPr lang="en-US" sz="1800">
                <a:solidFill>
                  <a:schemeClr val="tx1"/>
                </a:solidFill>
              </a:rPr>
              <a:t>|   </a:t>
            </a:r>
            <a:r>
              <a:rPr lang="en-US">
                <a:solidFill>
                  <a:schemeClr val="tx1"/>
                </a:solidFill>
              </a:rPr>
              <a:t>25-26J-067</a:t>
            </a:r>
            <a:endParaRPr lang="en-US" sz="1800" b="0">
              <a:solidFill>
                <a:schemeClr val="tx1"/>
              </a:solidFill>
            </a:endParaRPr>
          </a:p>
        </p:txBody>
      </p:sp>
      <p:pic>
        <p:nvPicPr>
          <p:cNvPr id="3" name="Picture 2" descr="A person with her arms crossed&#10;&#10;AI-generated content may be incorrect.">
            <a:extLst>
              <a:ext uri="{FF2B5EF4-FFF2-40B4-BE49-F238E27FC236}">
                <a16:creationId xmlns:a16="http://schemas.microsoft.com/office/drawing/2014/main" id="{C5342B40-3D0C-66DC-1D86-0633B4154480}"/>
              </a:ext>
            </a:extLst>
          </p:cNvPr>
          <p:cNvPicPr>
            <a:picLocks noChangeAspect="1"/>
          </p:cNvPicPr>
          <p:nvPr/>
        </p:nvPicPr>
        <p:blipFill>
          <a:blip r:embed="rId2"/>
          <a:stretch>
            <a:fillRect/>
          </a:stretch>
        </p:blipFill>
        <p:spPr>
          <a:xfrm>
            <a:off x="10125896" y="135050"/>
            <a:ext cx="2012623" cy="2331217"/>
          </a:xfrm>
          <a:prstGeom prst="rect">
            <a:avLst/>
          </a:prstGeom>
        </p:spPr>
      </p:pic>
    </p:spTree>
    <p:extLst>
      <p:ext uri="{BB962C8B-B14F-4D97-AF65-F5344CB8AC3E}">
        <p14:creationId xmlns:p14="http://schemas.microsoft.com/office/powerpoint/2010/main" val="3237759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D9F080-0780-4554-8055-A289E0D4EDA8}"/>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IT22328298</a:t>
            </a:r>
            <a:r>
              <a:rPr lang="en-US" sz="1800">
                <a:solidFill>
                  <a:schemeClr val="tx1"/>
                </a:solidFill>
              </a:rPr>
              <a:t>   | </a:t>
            </a:r>
            <a:r>
              <a:rPr lang="en-US" b="1" err="1">
                <a:solidFill>
                  <a:schemeClr val="tx1"/>
                </a:solidFill>
              </a:rPr>
              <a:t>Waidyarathne</a:t>
            </a:r>
            <a:r>
              <a:rPr lang="en-US" b="1">
                <a:solidFill>
                  <a:schemeClr val="tx1"/>
                </a:solidFill>
              </a:rPr>
              <a:t> U H A P G </a:t>
            </a:r>
            <a:r>
              <a:rPr lang="en-US" sz="1800" b="1">
                <a:solidFill>
                  <a:schemeClr val="tx1"/>
                </a:solidFill>
              </a:rPr>
              <a:t>  </a:t>
            </a:r>
            <a:r>
              <a:rPr lang="en-US" sz="1800">
                <a:solidFill>
                  <a:schemeClr val="tx1"/>
                </a:solidFill>
              </a:rPr>
              <a:t>| </a:t>
            </a:r>
            <a:r>
              <a:rPr lang="en-US">
                <a:solidFill>
                  <a:schemeClr val="tx1"/>
                </a:solidFill>
              </a:rPr>
              <a:t>25-26J-067</a:t>
            </a:r>
            <a:endParaRPr lang="en-US" sz="1800" b="0">
              <a:solidFill>
                <a:schemeClr val="tx1"/>
              </a:solidFill>
            </a:endParaRPr>
          </a:p>
        </p:txBody>
      </p:sp>
      <p:sp>
        <p:nvSpPr>
          <p:cNvPr id="14" name="Title 4">
            <a:extLst>
              <a:ext uri="{FF2B5EF4-FFF2-40B4-BE49-F238E27FC236}">
                <a16:creationId xmlns:a16="http://schemas.microsoft.com/office/drawing/2014/main" id="{A3D5D2C9-E033-6124-5B8C-DCB148E39B26}"/>
              </a:ext>
            </a:extLst>
          </p:cNvPr>
          <p:cNvSpPr>
            <a:spLocks noGrp="1"/>
          </p:cNvSpPr>
          <p:nvPr>
            <p:ph type="title"/>
          </p:nvPr>
        </p:nvSpPr>
        <p:spPr>
          <a:xfrm>
            <a:off x="890016" y="132235"/>
            <a:ext cx="10436268" cy="1423625"/>
          </a:xfrm>
        </p:spPr>
        <p:txBody>
          <a:bodyPr>
            <a:normAutofit/>
          </a:bodyPr>
          <a:lstStyle/>
          <a:p>
            <a:r>
              <a:rPr lang="pt-BR" sz="3600" err="1">
                <a:latin typeface="Adobe Devanagari"/>
              </a:rPr>
              <a:t>Behavioural</a:t>
            </a:r>
            <a:r>
              <a:rPr lang="pt-BR" sz="3600">
                <a:latin typeface="Adobe Devanagari"/>
              </a:rPr>
              <a:t> </a:t>
            </a:r>
            <a:r>
              <a:rPr lang="pt-BR" sz="3600" err="1">
                <a:latin typeface="Adobe Devanagari"/>
              </a:rPr>
              <a:t>Biometrics-Based</a:t>
            </a:r>
            <a:r>
              <a:rPr lang="pt-BR" sz="3600">
                <a:latin typeface="Adobe Devanagari"/>
              </a:rPr>
              <a:t> </a:t>
            </a:r>
            <a:r>
              <a:rPr lang="pt-BR" sz="3600" err="1">
                <a:latin typeface="Adobe Devanagari"/>
              </a:rPr>
              <a:t>Adaptive</a:t>
            </a:r>
            <a:r>
              <a:rPr lang="pt-BR" sz="3600">
                <a:latin typeface="Adobe Devanagari"/>
              </a:rPr>
              <a:t> </a:t>
            </a:r>
            <a:r>
              <a:rPr lang="pt-BR" sz="3600" err="1">
                <a:latin typeface="Adobe Devanagari"/>
              </a:rPr>
              <a:t>Authentication</a:t>
            </a:r>
            <a:r>
              <a:rPr lang="pt-BR" sz="3600">
                <a:latin typeface="Adobe Devanagari"/>
              </a:rPr>
              <a:t> Module for </a:t>
            </a:r>
            <a:r>
              <a:rPr lang="pt-BR" sz="3600" err="1">
                <a:latin typeface="Adobe Devanagari"/>
              </a:rPr>
              <a:t>SafeLAN</a:t>
            </a:r>
            <a:endParaRPr lang="en-US" err="1"/>
          </a:p>
        </p:txBody>
      </p:sp>
      <p:sp>
        <p:nvSpPr>
          <p:cNvPr id="6" name="Text Placeholder 5">
            <a:extLst>
              <a:ext uri="{FF2B5EF4-FFF2-40B4-BE49-F238E27FC236}">
                <a16:creationId xmlns:a16="http://schemas.microsoft.com/office/drawing/2014/main" id="{0F8885F7-E7F3-EED6-109F-CE350FD54BA9}"/>
              </a:ext>
            </a:extLst>
          </p:cNvPr>
          <p:cNvSpPr txBox="1">
            <a:spLocks/>
          </p:cNvSpPr>
          <p:nvPr/>
        </p:nvSpPr>
        <p:spPr>
          <a:xfrm>
            <a:off x="963083" y="1639958"/>
            <a:ext cx="10352315" cy="1887102"/>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a:ea typeface="+mn-lt"/>
                <a:cs typeface="+mn-lt"/>
              </a:rPr>
              <a:t>Problem: </a:t>
            </a:r>
            <a:r>
              <a:rPr lang="en-US" sz="2000">
                <a:ea typeface="+mn-lt"/>
                <a:cs typeface="+mn-lt"/>
              </a:rPr>
              <a:t>Current LAN-based file systems authenticate users by validating only the correctness of credentials, without verifying who is typing them. Once logged in, these systems cannot detect insider threats or credential misuse, making them vulnerable when valid credentials are used by unauthorized individuals. This issue is critical in offline LAN environments, where centralized identity services like user-specific keystroke data and trust-score based authentication are unavailable.</a:t>
            </a:r>
          </a:p>
        </p:txBody>
      </p:sp>
      <p:sp>
        <p:nvSpPr>
          <p:cNvPr id="8" name="Rectangle 7">
            <a:extLst>
              <a:ext uri="{FF2B5EF4-FFF2-40B4-BE49-F238E27FC236}">
                <a16:creationId xmlns:a16="http://schemas.microsoft.com/office/drawing/2014/main" id="{332758ED-392A-9C01-4E29-14FB574561E9}"/>
              </a:ext>
            </a:extLst>
          </p:cNvPr>
          <p:cNvSpPr/>
          <p:nvPr/>
        </p:nvSpPr>
        <p:spPr>
          <a:xfrm>
            <a:off x="2295299" y="3707794"/>
            <a:ext cx="7705001" cy="2416736"/>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a:solidFill>
                  <a:schemeClr val="tx1"/>
                </a:solidFill>
                <a:ea typeface="+mn-lt"/>
                <a:cs typeface="+mn-lt"/>
              </a:rPr>
              <a:t>User Requirements Addressed: </a:t>
            </a:r>
            <a:endParaRPr lang="en-US" sz="2000">
              <a:solidFill>
                <a:schemeClr val="tx1"/>
              </a:solidFill>
              <a:ea typeface="Cambria"/>
            </a:endParaRPr>
          </a:p>
          <a:p>
            <a:pPr marL="285750" indent="-285750">
              <a:spcAft>
                <a:spcPts val="200"/>
              </a:spcAft>
              <a:buFont typeface="Arial"/>
              <a:buChar char="•"/>
            </a:pPr>
            <a:r>
              <a:rPr lang="en-US" sz="2000" b="1">
                <a:solidFill>
                  <a:schemeClr val="tx1"/>
                </a:solidFill>
                <a:ea typeface="+mn-lt"/>
                <a:cs typeface="+mn-lt"/>
              </a:rPr>
              <a:t>Identity Validation:</a:t>
            </a:r>
            <a:r>
              <a:rPr lang="en-US" sz="2000">
                <a:solidFill>
                  <a:schemeClr val="tx1"/>
                </a:solidFill>
                <a:ea typeface="+mn-lt"/>
                <a:cs typeface="+mn-lt"/>
              </a:rPr>
              <a:t> Confirms that the person typing is the legitimate user.</a:t>
            </a:r>
            <a:endParaRPr lang="en-US" sz="2000" b="1">
              <a:solidFill>
                <a:schemeClr val="tx1"/>
              </a:solidFill>
              <a:ea typeface="+mn-lt"/>
              <a:cs typeface="+mn-lt"/>
            </a:endParaRPr>
          </a:p>
          <a:p>
            <a:pPr marL="285750" indent="-285750">
              <a:spcAft>
                <a:spcPts val="200"/>
              </a:spcAft>
              <a:buFont typeface="Arial"/>
              <a:buChar char="•"/>
            </a:pPr>
            <a:r>
              <a:rPr lang="en-US" sz="2000" b="1">
                <a:solidFill>
                  <a:schemeClr val="tx1"/>
                </a:solidFill>
                <a:ea typeface="+mn-lt"/>
                <a:cs typeface="+mn-lt"/>
              </a:rPr>
              <a:t>Low Intrusion:</a:t>
            </a:r>
            <a:r>
              <a:rPr lang="en-US" sz="2000">
                <a:solidFill>
                  <a:schemeClr val="tx1"/>
                </a:solidFill>
                <a:ea typeface="+mn-lt"/>
                <a:cs typeface="+mn-lt"/>
              </a:rPr>
              <a:t> Uses existing keyboard input without extra hardware.</a:t>
            </a:r>
          </a:p>
          <a:p>
            <a:pPr marL="285750" indent="-285750">
              <a:spcAft>
                <a:spcPts val="200"/>
              </a:spcAft>
              <a:buFont typeface="Arial"/>
              <a:buChar char="•"/>
            </a:pPr>
            <a:r>
              <a:rPr lang="en-US" sz="2000" b="1">
                <a:solidFill>
                  <a:schemeClr val="tx1"/>
                </a:solidFill>
                <a:ea typeface="+mn-lt"/>
                <a:cs typeface="+mn-lt"/>
              </a:rPr>
              <a:t>Compatibility:</a:t>
            </a:r>
            <a:r>
              <a:rPr lang="en-US" sz="2000">
                <a:solidFill>
                  <a:schemeClr val="tx1"/>
                </a:solidFill>
                <a:ea typeface="+mn-lt"/>
                <a:cs typeface="+mn-lt"/>
              </a:rPr>
              <a:t> Designed to integrate into a LAN-based desktop file system and works without internet.</a:t>
            </a:r>
          </a:p>
        </p:txBody>
      </p:sp>
    </p:spTree>
    <p:extLst>
      <p:ext uri="{BB962C8B-B14F-4D97-AF65-F5344CB8AC3E}">
        <p14:creationId xmlns:p14="http://schemas.microsoft.com/office/powerpoint/2010/main" val="3658498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7F7C9-B637-2C65-56A6-F1779C3FF0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38CBD1-7D84-2F4E-743C-4DE15ED2041F}"/>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IT22328298</a:t>
            </a:r>
            <a:r>
              <a:rPr lang="en-US" sz="1800">
                <a:solidFill>
                  <a:schemeClr val="tx1"/>
                </a:solidFill>
              </a:rPr>
              <a:t>   | </a:t>
            </a:r>
            <a:r>
              <a:rPr lang="en-US" b="1" err="1">
                <a:solidFill>
                  <a:schemeClr val="tx1"/>
                </a:solidFill>
              </a:rPr>
              <a:t>Waidyarathne</a:t>
            </a:r>
            <a:r>
              <a:rPr lang="en-US" b="1">
                <a:solidFill>
                  <a:schemeClr val="tx1"/>
                </a:solidFill>
              </a:rPr>
              <a:t> U H A P G </a:t>
            </a:r>
            <a:r>
              <a:rPr lang="en-US" sz="1800" b="1">
                <a:solidFill>
                  <a:schemeClr val="tx1"/>
                </a:solidFill>
              </a:rPr>
              <a:t>  </a:t>
            </a:r>
            <a:r>
              <a:rPr lang="en-US" sz="1800">
                <a:solidFill>
                  <a:schemeClr val="tx1"/>
                </a:solidFill>
              </a:rPr>
              <a:t>| </a:t>
            </a:r>
            <a:r>
              <a:rPr lang="en-US">
                <a:solidFill>
                  <a:schemeClr val="tx1"/>
                </a:solidFill>
              </a:rPr>
              <a:t>25-26J-067</a:t>
            </a:r>
            <a:endParaRPr lang="en-US" sz="1800" b="0">
              <a:solidFill>
                <a:schemeClr val="tx1"/>
              </a:solidFill>
            </a:endParaRPr>
          </a:p>
        </p:txBody>
      </p:sp>
      <p:sp>
        <p:nvSpPr>
          <p:cNvPr id="14" name="Title 4">
            <a:extLst>
              <a:ext uri="{FF2B5EF4-FFF2-40B4-BE49-F238E27FC236}">
                <a16:creationId xmlns:a16="http://schemas.microsoft.com/office/drawing/2014/main" id="{25685644-3CD9-3F72-4D10-FCF348846136}"/>
              </a:ext>
            </a:extLst>
          </p:cNvPr>
          <p:cNvSpPr>
            <a:spLocks noGrp="1"/>
          </p:cNvSpPr>
          <p:nvPr>
            <p:ph type="title"/>
          </p:nvPr>
        </p:nvSpPr>
        <p:spPr>
          <a:xfrm>
            <a:off x="890016" y="132235"/>
            <a:ext cx="10436268" cy="1423625"/>
          </a:xfrm>
        </p:spPr>
        <p:txBody>
          <a:bodyPr>
            <a:normAutofit/>
          </a:bodyPr>
          <a:lstStyle/>
          <a:p>
            <a:r>
              <a:rPr lang="pt-BR" sz="3600" err="1">
                <a:latin typeface="Adobe Devanagari"/>
              </a:rPr>
              <a:t>Behavioural</a:t>
            </a:r>
            <a:r>
              <a:rPr lang="pt-BR" sz="3600">
                <a:latin typeface="Adobe Devanagari"/>
              </a:rPr>
              <a:t> </a:t>
            </a:r>
            <a:r>
              <a:rPr lang="pt-BR" sz="3600" err="1">
                <a:latin typeface="Adobe Devanagari"/>
              </a:rPr>
              <a:t>Biometrics-Based</a:t>
            </a:r>
            <a:r>
              <a:rPr lang="pt-BR" sz="3600">
                <a:latin typeface="Adobe Devanagari"/>
              </a:rPr>
              <a:t> </a:t>
            </a:r>
            <a:r>
              <a:rPr lang="pt-BR" sz="3600" err="1">
                <a:latin typeface="Adobe Devanagari"/>
              </a:rPr>
              <a:t>Adaptive</a:t>
            </a:r>
            <a:r>
              <a:rPr lang="pt-BR" sz="3600">
                <a:latin typeface="Adobe Devanagari"/>
              </a:rPr>
              <a:t> </a:t>
            </a:r>
            <a:r>
              <a:rPr lang="pt-BR" sz="3600" err="1">
                <a:latin typeface="Adobe Devanagari"/>
              </a:rPr>
              <a:t>Authentication</a:t>
            </a:r>
            <a:r>
              <a:rPr lang="pt-BR" sz="3600">
                <a:latin typeface="Adobe Devanagari"/>
              </a:rPr>
              <a:t> Module for </a:t>
            </a:r>
            <a:r>
              <a:rPr lang="pt-BR" sz="3600" err="1">
                <a:latin typeface="Adobe Devanagari"/>
              </a:rPr>
              <a:t>SafeLAN</a:t>
            </a:r>
            <a:endParaRPr lang="en-US" err="1"/>
          </a:p>
        </p:txBody>
      </p:sp>
      <p:sp>
        <p:nvSpPr>
          <p:cNvPr id="3" name="Rectangle: Diagonal Corners Rounded 2">
            <a:extLst>
              <a:ext uri="{FF2B5EF4-FFF2-40B4-BE49-F238E27FC236}">
                <a16:creationId xmlns:a16="http://schemas.microsoft.com/office/drawing/2014/main" id="{2E6EBF31-F4A3-86FE-CA52-416338C7735A}"/>
              </a:ext>
            </a:extLst>
          </p:cNvPr>
          <p:cNvSpPr/>
          <p:nvPr/>
        </p:nvSpPr>
        <p:spPr>
          <a:xfrm>
            <a:off x="888565" y="1714096"/>
            <a:ext cx="10299986" cy="4435562"/>
          </a:xfrm>
          <a:prstGeom prst="round2Diag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spcBef>
                <a:spcPct val="0"/>
              </a:spcBef>
            </a:pPr>
            <a:r>
              <a:rPr lang="en-US" sz="2000" b="1">
                <a:solidFill>
                  <a:schemeClr val="tx1"/>
                </a:solidFill>
                <a:ea typeface="+mn-lt"/>
                <a:cs typeface="+mn-lt"/>
              </a:rPr>
              <a:t>Design Excellence/ Contribution</a:t>
            </a:r>
            <a:endParaRPr lang="en-US" sz="2000">
              <a:solidFill>
                <a:schemeClr val="tx1"/>
              </a:solidFill>
              <a:ea typeface="Cambria"/>
            </a:endParaRPr>
          </a:p>
          <a:p>
            <a:pPr algn="ctr">
              <a:spcBef>
                <a:spcPct val="0"/>
              </a:spcBef>
            </a:pPr>
            <a:endParaRPr lang="en-US" sz="2000">
              <a:solidFill>
                <a:schemeClr val="tx1"/>
              </a:solidFill>
              <a:ea typeface="+mn-lt"/>
              <a:cs typeface="+mn-lt"/>
            </a:endParaRPr>
          </a:p>
          <a:p>
            <a:pPr marL="285750" indent="-285750">
              <a:buFont typeface="Arial"/>
              <a:buChar char="•"/>
            </a:pPr>
            <a:r>
              <a:rPr lang="en-US" sz="2000">
                <a:solidFill>
                  <a:schemeClr val="tx1"/>
                </a:solidFill>
                <a:ea typeface="+mn-lt"/>
                <a:cs typeface="+mn-lt"/>
              </a:rPr>
              <a:t>Centralized server–client architecture for secure storage and management of user-specific authentication models.</a:t>
            </a:r>
          </a:p>
          <a:p>
            <a:pPr marL="285750" indent="-285750">
              <a:buFont typeface="Arial"/>
              <a:buChar char="•"/>
            </a:pPr>
            <a:r>
              <a:rPr lang="en-US" sz="2000">
                <a:solidFill>
                  <a:schemeClr val="tx1"/>
                </a:solidFill>
                <a:ea typeface="+mn-lt"/>
                <a:cs typeface="+mn-lt"/>
              </a:rPr>
              <a:t>Uses </a:t>
            </a:r>
            <a:r>
              <a:rPr lang="en-US" sz="2000" b="1">
                <a:solidFill>
                  <a:schemeClr val="tx1"/>
                </a:solidFill>
                <a:ea typeface="+mn-lt"/>
                <a:cs typeface="+mn-lt"/>
              </a:rPr>
              <a:t>One-Class SVM</a:t>
            </a:r>
            <a:r>
              <a:rPr lang="en-US" sz="2000">
                <a:solidFill>
                  <a:schemeClr val="tx1"/>
                </a:solidFill>
                <a:ea typeface="+mn-lt"/>
                <a:cs typeface="+mn-lt"/>
              </a:rPr>
              <a:t>, which is suitable for authentication scenarios where only legitimate user data is available and attacker data is unknown.</a:t>
            </a:r>
            <a:endParaRPr lang="en-US">
              <a:solidFill>
                <a:schemeClr val="tx1"/>
              </a:solidFill>
            </a:endParaRPr>
          </a:p>
          <a:p>
            <a:pPr marL="285750" indent="-285750">
              <a:buFont typeface="Arial"/>
              <a:buChar char="•"/>
            </a:pPr>
            <a:r>
              <a:rPr lang="en-US" sz="2000">
                <a:solidFill>
                  <a:schemeClr val="tx1"/>
                </a:solidFill>
                <a:ea typeface="+mn-lt"/>
                <a:cs typeface="+mn-lt"/>
              </a:rPr>
              <a:t>Effective for small, </a:t>
            </a:r>
            <a:r>
              <a:rPr lang="en-US" sz="2000" b="1">
                <a:solidFill>
                  <a:schemeClr val="tx1"/>
                </a:solidFill>
                <a:ea typeface="+mn-lt"/>
                <a:cs typeface="+mn-lt"/>
              </a:rPr>
              <a:t>user-specific </a:t>
            </a:r>
            <a:r>
              <a:rPr lang="en-US" sz="2000">
                <a:solidFill>
                  <a:schemeClr val="tx1"/>
                </a:solidFill>
                <a:ea typeface="+mn-lt"/>
                <a:cs typeface="+mn-lt"/>
              </a:rPr>
              <a:t>datasets, making it practical for per-user enrollment.</a:t>
            </a:r>
            <a:endParaRPr lang="en-US" sz="2000">
              <a:solidFill>
                <a:schemeClr val="tx1"/>
              </a:solidFill>
              <a:ea typeface="Cambria"/>
            </a:endParaRPr>
          </a:p>
          <a:p>
            <a:pPr marL="285750" indent="-285750">
              <a:buFont typeface="Arial"/>
              <a:buChar char="•"/>
            </a:pPr>
            <a:r>
              <a:rPr lang="en-US" sz="2000">
                <a:solidFill>
                  <a:schemeClr val="tx1"/>
                </a:solidFill>
                <a:ea typeface="+mn-lt"/>
                <a:cs typeface="+mn-lt"/>
              </a:rPr>
              <a:t>Detects anomalies at login time using 14 keystroke dynamics (hold time, flight time, key latencies, etc.), even when correct credentials are entered. </a:t>
            </a:r>
            <a:endParaRPr lang="en-US" sz="2000">
              <a:solidFill>
                <a:schemeClr val="tx1"/>
              </a:solidFill>
              <a:ea typeface="Cambria"/>
            </a:endParaRPr>
          </a:p>
          <a:p>
            <a:pPr marL="285750" indent="-285750">
              <a:buFont typeface="Arial"/>
              <a:buChar char="•"/>
            </a:pPr>
            <a:r>
              <a:rPr lang="en-US" sz="2000">
                <a:solidFill>
                  <a:schemeClr val="tx1"/>
                </a:solidFill>
                <a:ea typeface="+mn-lt"/>
                <a:cs typeface="+mn-lt"/>
              </a:rPr>
              <a:t>Implements a </a:t>
            </a:r>
            <a:r>
              <a:rPr lang="en-US" sz="2000" b="1">
                <a:solidFill>
                  <a:schemeClr val="tx1"/>
                </a:solidFill>
                <a:ea typeface="+mn-lt"/>
                <a:cs typeface="+mn-lt"/>
              </a:rPr>
              <a:t>threshold-based</a:t>
            </a:r>
            <a:r>
              <a:rPr lang="en-US" sz="2000">
                <a:solidFill>
                  <a:schemeClr val="tx1"/>
                </a:solidFill>
                <a:ea typeface="+mn-lt"/>
                <a:cs typeface="+mn-lt"/>
              </a:rPr>
              <a:t> trust score, enabling controlled tuning of false positives and false negatives.</a:t>
            </a:r>
            <a:endParaRPr lang="en-US" sz="2000">
              <a:solidFill>
                <a:schemeClr val="tx1"/>
              </a:solidFill>
              <a:ea typeface="Cambria"/>
            </a:endParaRPr>
          </a:p>
          <a:p>
            <a:pPr marL="285750" indent="-285750">
              <a:buFont typeface="Arial"/>
              <a:buChar char="•"/>
            </a:pPr>
            <a:r>
              <a:rPr lang="en-US" sz="2000">
                <a:solidFill>
                  <a:schemeClr val="tx1"/>
                </a:solidFill>
                <a:ea typeface="+mn-lt"/>
                <a:cs typeface="+mn-lt"/>
              </a:rPr>
              <a:t>Uses integration of </a:t>
            </a:r>
            <a:r>
              <a:rPr lang="en-US" sz="2000" b="1">
                <a:solidFill>
                  <a:schemeClr val="tx1"/>
                </a:solidFill>
                <a:ea typeface="+mn-lt"/>
                <a:cs typeface="+mn-lt"/>
              </a:rPr>
              <a:t>contextual factors</a:t>
            </a:r>
            <a:r>
              <a:rPr lang="en-US" sz="2000">
                <a:solidFill>
                  <a:schemeClr val="tx1"/>
                </a:solidFill>
                <a:ea typeface="+mn-lt"/>
                <a:cs typeface="+mn-lt"/>
              </a:rPr>
              <a:t> like device UUID, MAC address and host name match while learning user's successful typing attempts to keep authentication accurate. </a:t>
            </a:r>
            <a:endParaRPr lang="en-US" sz="2000">
              <a:solidFill>
                <a:schemeClr val="tx1"/>
              </a:solidFill>
              <a:ea typeface="Cambria"/>
            </a:endParaRPr>
          </a:p>
        </p:txBody>
      </p:sp>
    </p:spTree>
    <p:extLst>
      <p:ext uri="{BB962C8B-B14F-4D97-AF65-F5344CB8AC3E}">
        <p14:creationId xmlns:p14="http://schemas.microsoft.com/office/powerpoint/2010/main" val="3314452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9FCB0-4BEC-5149-4841-6C9EC81A90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295A38-E050-AABB-A087-514B1F9C3C0D}"/>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IT22328298</a:t>
            </a:r>
            <a:r>
              <a:rPr lang="en-US" sz="1800">
                <a:solidFill>
                  <a:schemeClr val="tx1"/>
                </a:solidFill>
              </a:rPr>
              <a:t>   | </a:t>
            </a:r>
            <a:r>
              <a:rPr lang="en-US" b="1" err="1">
                <a:solidFill>
                  <a:schemeClr val="tx1"/>
                </a:solidFill>
              </a:rPr>
              <a:t>Waidyarathne</a:t>
            </a:r>
            <a:r>
              <a:rPr lang="en-US" b="1">
                <a:solidFill>
                  <a:schemeClr val="tx1"/>
                </a:solidFill>
              </a:rPr>
              <a:t> U H A P G </a:t>
            </a:r>
            <a:r>
              <a:rPr lang="en-US" sz="1800" b="1">
                <a:solidFill>
                  <a:schemeClr val="tx1"/>
                </a:solidFill>
              </a:rPr>
              <a:t>  </a:t>
            </a:r>
            <a:r>
              <a:rPr lang="en-US" sz="1800">
                <a:solidFill>
                  <a:schemeClr val="tx1"/>
                </a:solidFill>
              </a:rPr>
              <a:t>| </a:t>
            </a:r>
            <a:r>
              <a:rPr lang="en-US">
                <a:solidFill>
                  <a:schemeClr val="tx1"/>
                </a:solidFill>
              </a:rPr>
              <a:t>25-26J-067</a:t>
            </a:r>
            <a:endParaRPr lang="en-US" sz="1800" b="0">
              <a:solidFill>
                <a:schemeClr val="tx1"/>
              </a:solidFill>
            </a:endParaRPr>
          </a:p>
        </p:txBody>
      </p:sp>
      <p:sp>
        <p:nvSpPr>
          <p:cNvPr id="14" name="Title 4">
            <a:extLst>
              <a:ext uri="{FF2B5EF4-FFF2-40B4-BE49-F238E27FC236}">
                <a16:creationId xmlns:a16="http://schemas.microsoft.com/office/drawing/2014/main" id="{DCAD2B20-F947-9E69-6D9D-70C26740C2AB}"/>
              </a:ext>
            </a:extLst>
          </p:cNvPr>
          <p:cNvSpPr>
            <a:spLocks noGrp="1"/>
          </p:cNvSpPr>
          <p:nvPr>
            <p:ph type="title"/>
          </p:nvPr>
        </p:nvSpPr>
        <p:spPr>
          <a:xfrm>
            <a:off x="890016" y="132235"/>
            <a:ext cx="10436268" cy="1423625"/>
          </a:xfrm>
        </p:spPr>
        <p:txBody>
          <a:bodyPr>
            <a:normAutofit/>
          </a:bodyPr>
          <a:lstStyle/>
          <a:p>
            <a:r>
              <a:rPr lang="pt-BR" sz="3600" err="1">
                <a:latin typeface="Adobe Devanagari"/>
              </a:rPr>
              <a:t>Behavioural</a:t>
            </a:r>
            <a:r>
              <a:rPr lang="pt-BR" sz="3600">
                <a:latin typeface="Adobe Devanagari"/>
              </a:rPr>
              <a:t> </a:t>
            </a:r>
            <a:r>
              <a:rPr lang="pt-BR" sz="3600" err="1">
                <a:latin typeface="Adobe Devanagari"/>
              </a:rPr>
              <a:t>Biometrics-Based</a:t>
            </a:r>
            <a:r>
              <a:rPr lang="pt-BR" sz="3600">
                <a:latin typeface="Adobe Devanagari"/>
              </a:rPr>
              <a:t> </a:t>
            </a:r>
            <a:r>
              <a:rPr lang="pt-BR" sz="3600" err="1">
                <a:latin typeface="Adobe Devanagari"/>
              </a:rPr>
              <a:t>Adaptive</a:t>
            </a:r>
            <a:r>
              <a:rPr lang="pt-BR" sz="3600">
                <a:latin typeface="Adobe Devanagari"/>
              </a:rPr>
              <a:t> </a:t>
            </a:r>
            <a:r>
              <a:rPr lang="pt-BR" sz="3600" err="1">
                <a:latin typeface="Adobe Devanagari"/>
              </a:rPr>
              <a:t>Authentication</a:t>
            </a:r>
            <a:r>
              <a:rPr lang="pt-BR" sz="3600">
                <a:latin typeface="Adobe Devanagari"/>
              </a:rPr>
              <a:t> Module for </a:t>
            </a:r>
            <a:r>
              <a:rPr lang="pt-BR" sz="3600" err="1">
                <a:latin typeface="Adobe Devanagari"/>
              </a:rPr>
              <a:t>SafeLAN</a:t>
            </a:r>
            <a:endParaRPr lang="en-US" err="1"/>
          </a:p>
        </p:txBody>
      </p:sp>
      <p:pic>
        <p:nvPicPr>
          <p:cNvPr id="3" name="Picture 2" descr="A group of graphs and charts&#10;&#10;AI-generated content may be incorrect.">
            <a:extLst>
              <a:ext uri="{FF2B5EF4-FFF2-40B4-BE49-F238E27FC236}">
                <a16:creationId xmlns:a16="http://schemas.microsoft.com/office/drawing/2014/main" id="{9A7660AB-A0A8-07DD-FFA8-86A6B109CBAA}"/>
              </a:ext>
            </a:extLst>
          </p:cNvPr>
          <p:cNvPicPr>
            <a:picLocks noChangeAspect="1"/>
          </p:cNvPicPr>
          <p:nvPr/>
        </p:nvPicPr>
        <p:blipFill>
          <a:blip r:embed="rId2"/>
          <a:srcRect t="47994" r="68733"/>
          <a:stretch>
            <a:fillRect/>
          </a:stretch>
        </p:blipFill>
        <p:spPr>
          <a:xfrm>
            <a:off x="4076191" y="1556529"/>
            <a:ext cx="3500525" cy="3535687"/>
          </a:xfrm>
          <a:prstGeom prst="rect">
            <a:avLst/>
          </a:prstGeom>
        </p:spPr>
      </p:pic>
      <p:pic>
        <p:nvPicPr>
          <p:cNvPr id="5" name="Picture 4" descr="A group of graphs and charts&#10;&#10;AI-generated content may be incorrect.">
            <a:extLst>
              <a:ext uri="{FF2B5EF4-FFF2-40B4-BE49-F238E27FC236}">
                <a16:creationId xmlns:a16="http://schemas.microsoft.com/office/drawing/2014/main" id="{609D895D-F130-12E4-CAD5-BB0B61399426}"/>
              </a:ext>
            </a:extLst>
          </p:cNvPr>
          <p:cNvPicPr>
            <a:picLocks noChangeAspect="1"/>
          </p:cNvPicPr>
          <p:nvPr/>
        </p:nvPicPr>
        <p:blipFill>
          <a:blip r:embed="rId2"/>
          <a:srcRect l="64216" t="50000" r="-89" b="5324"/>
          <a:stretch>
            <a:fillRect/>
          </a:stretch>
        </p:blipFill>
        <p:spPr>
          <a:xfrm>
            <a:off x="7774729" y="1707934"/>
            <a:ext cx="4116779" cy="3063881"/>
          </a:xfrm>
          <a:prstGeom prst="rect">
            <a:avLst/>
          </a:prstGeom>
        </p:spPr>
      </p:pic>
      <p:pic>
        <p:nvPicPr>
          <p:cNvPr id="7" name="Picture 6" descr="A group of graphs and charts&#10;&#10;AI-generated content may be incorrect.">
            <a:extLst>
              <a:ext uri="{FF2B5EF4-FFF2-40B4-BE49-F238E27FC236}">
                <a16:creationId xmlns:a16="http://schemas.microsoft.com/office/drawing/2014/main" id="{5CE21DBE-86AF-99F4-260A-F225865F7BEF}"/>
              </a:ext>
            </a:extLst>
          </p:cNvPr>
          <p:cNvPicPr>
            <a:picLocks noChangeAspect="1"/>
          </p:cNvPicPr>
          <p:nvPr/>
        </p:nvPicPr>
        <p:blipFill>
          <a:blip r:embed="rId2"/>
          <a:srcRect l="66785" r="-89" b="50000"/>
          <a:stretch>
            <a:fillRect/>
          </a:stretch>
        </p:blipFill>
        <p:spPr>
          <a:xfrm>
            <a:off x="191484" y="1711740"/>
            <a:ext cx="3689482" cy="3373782"/>
          </a:xfrm>
          <a:prstGeom prst="rect">
            <a:avLst/>
          </a:prstGeom>
        </p:spPr>
      </p:pic>
      <p:sp>
        <p:nvSpPr>
          <p:cNvPr id="10" name="Text Placeholder 5">
            <a:extLst>
              <a:ext uri="{FF2B5EF4-FFF2-40B4-BE49-F238E27FC236}">
                <a16:creationId xmlns:a16="http://schemas.microsoft.com/office/drawing/2014/main" id="{4BD42B7A-6F84-AFF0-CAA7-8FC5A519E160}"/>
              </a:ext>
            </a:extLst>
          </p:cNvPr>
          <p:cNvSpPr txBox="1">
            <a:spLocks/>
          </p:cNvSpPr>
          <p:nvPr/>
        </p:nvSpPr>
        <p:spPr>
          <a:xfrm>
            <a:off x="963083" y="5316554"/>
            <a:ext cx="10370457" cy="907388"/>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sz="2000">
                <a:ea typeface="+mn-lt"/>
                <a:cs typeface="+mn-lt"/>
              </a:rPr>
              <a:t>Among the evaluated models, One-Class SVM performed best with low FAR/FRR and the highest overall classification metrics, making it ideal for our authentication module.</a:t>
            </a:r>
            <a:endParaRPr lang="en-US">
              <a:ea typeface="+mn-lt"/>
              <a:cs typeface="+mn-lt"/>
            </a:endParaRPr>
          </a:p>
          <a:p>
            <a:pPr marL="0" indent="0">
              <a:buNone/>
            </a:pPr>
            <a:endParaRPr lang="en-US" sz="2000">
              <a:ea typeface="Cambria"/>
            </a:endParaRPr>
          </a:p>
        </p:txBody>
      </p:sp>
    </p:spTree>
    <p:extLst>
      <p:ext uri="{BB962C8B-B14F-4D97-AF65-F5344CB8AC3E}">
        <p14:creationId xmlns:p14="http://schemas.microsoft.com/office/powerpoint/2010/main" val="337050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AAE7-81A9-C9A8-210D-D2779EEB652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40FE13-69A7-56A4-00EA-40EECF9E8E3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IT22328298</a:t>
            </a:r>
            <a:r>
              <a:rPr lang="en-US" sz="1800">
                <a:solidFill>
                  <a:schemeClr val="tx1"/>
                </a:solidFill>
              </a:rPr>
              <a:t>   | </a:t>
            </a:r>
            <a:r>
              <a:rPr lang="en-US" b="1" err="1">
                <a:solidFill>
                  <a:schemeClr val="tx1"/>
                </a:solidFill>
              </a:rPr>
              <a:t>Waidyarathne</a:t>
            </a:r>
            <a:r>
              <a:rPr lang="en-US" b="1">
                <a:solidFill>
                  <a:schemeClr val="tx1"/>
                </a:solidFill>
              </a:rPr>
              <a:t> U H A P G </a:t>
            </a:r>
            <a:r>
              <a:rPr lang="en-US" sz="1800" b="1">
                <a:solidFill>
                  <a:schemeClr val="tx1"/>
                </a:solidFill>
              </a:rPr>
              <a:t>  </a:t>
            </a:r>
            <a:r>
              <a:rPr lang="en-US" sz="1800">
                <a:solidFill>
                  <a:schemeClr val="tx1"/>
                </a:solidFill>
              </a:rPr>
              <a:t>| </a:t>
            </a:r>
            <a:r>
              <a:rPr lang="en-US">
                <a:solidFill>
                  <a:schemeClr val="tx1"/>
                </a:solidFill>
              </a:rPr>
              <a:t>25-26J-067</a:t>
            </a:r>
            <a:endParaRPr lang="en-US" sz="1800" b="0">
              <a:solidFill>
                <a:schemeClr val="tx1"/>
              </a:solidFill>
            </a:endParaRPr>
          </a:p>
        </p:txBody>
      </p:sp>
      <p:sp>
        <p:nvSpPr>
          <p:cNvPr id="14" name="Title 4">
            <a:extLst>
              <a:ext uri="{FF2B5EF4-FFF2-40B4-BE49-F238E27FC236}">
                <a16:creationId xmlns:a16="http://schemas.microsoft.com/office/drawing/2014/main" id="{B00E7449-12AD-E68D-3667-002636ED7F47}"/>
              </a:ext>
            </a:extLst>
          </p:cNvPr>
          <p:cNvSpPr>
            <a:spLocks noGrp="1"/>
          </p:cNvSpPr>
          <p:nvPr>
            <p:ph type="title"/>
          </p:nvPr>
        </p:nvSpPr>
        <p:spPr>
          <a:xfrm>
            <a:off x="890016" y="132235"/>
            <a:ext cx="10436268" cy="1423625"/>
          </a:xfrm>
        </p:spPr>
        <p:txBody>
          <a:bodyPr>
            <a:normAutofit/>
          </a:bodyPr>
          <a:lstStyle/>
          <a:p>
            <a:r>
              <a:rPr lang="pt-BR" sz="3600" err="1">
                <a:latin typeface="Adobe Devanagari"/>
              </a:rPr>
              <a:t>Behavioural</a:t>
            </a:r>
            <a:r>
              <a:rPr lang="pt-BR" sz="3600">
                <a:latin typeface="Adobe Devanagari"/>
              </a:rPr>
              <a:t> </a:t>
            </a:r>
            <a:r>
              <a:rPr lang="pt-BR" sz="3600" err="1">
                <a:latin typeface="Adobe Devanagari"/>
              </a:rPr>
              <a:t>Biometrics-Based</a:t>
            </a:r>
            <a:r>
              <a:rPr lang="pt-BR" sz="3600">
                <a:latin typeface="Adobe Devanagari"/>
              </a:rPr>
              <a:t> </a:t>
            </a:r>
            <a:r>
              <a:rPr lang="pt-BR" sz="3600" err="1">
                <a:latin typeface="Adobe Devanagari"/>
              </a:rPr>
              <a:t>Adaptive</a:t>
            </a:r>
            <a:r>
              <a:rPr lang="pt-BR" sz="3600">
                <a:latin typeface="Adobe Devanagari"/>
              </a:rPr>
              <a:t> </a:t>
            </a:r>
            <a:r>
              <a:rPr lang="pt-BR" sz="3600" err="1">
                <a:latin typeface="Adobe Devanagari"/>
              </a:rPr>
              <a:t>Authentication</a:t>
            </a:r>
            <a:r>
              <a:rPr lang="pt-BR" sz="3600">
                <a:latin typeface="Adobe Devanagari"/>
              </a:rPr>
              <a:t> Module for </a:t>
            </a:r>
            <a:r>
              <a:rPr lang="pt-BR" sz="3600" err="1">
                <a:latin typeface="Adobe Devanagari"/>
              </a:rPr>
              <a:t>SafeLAN</a:t>
            </a:r>
            <a:endParaRPr lang="en-US" err="1"/>
          </a:p>
        </p:txBody>
      </p:sp>
      <p:sp>
        <p:nvSpPr>
          <p:cNvPr id="10" name="Text Placeholder 5">
            <a:extLst>
              <a:ext uri="{FF2B5EF4-FFF2-40B4-BE49-F238E27FC236}">
                <a16:creationId xmlns:a16="http://schemas.microsoft.com/office/drawing/2014/main" id="{9136F48B-E53B-3BDA-281D-13030CAAAD21}"/>
              </a:ext>
            </a:extLst>
          </p:cNvPr>
          <p:cNvSpPr txBox="1">
            <a:spLocks/>
          </p:cNvSpPr>
          <p:nvPr/>
        </p:nvSpPr>
        <p:spPr>
          <a:xfrm>
            <a:off x="6605703" y="1818688"/>
            <a:ext cx="5025253" cy="4166002"/>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a:ea typeface="+mn-lt"/>
                <a:cs typeface="+mn-lt"/>
              </a:rPr>
              <a:t>Authentication Module Process</a:t>
            </a:r>
          </a:p>
          <a:p>
            <a:r>
              <a:rPr lang="en-US" sz="2000">
                <a:ea typeface="+mn-lt"/>
                <a:cs typeface="+mn-lt"/>
              </a:rPr>
              <a:t>User types the password, keystroke features are captured to create the user’s typing DNA and model is trained and uploaded to the server via API.</a:t>
            </a:r>
          </a:p>
          <a:p>
            <a:r>
              <a:rPr lang="en-US" sz="2000">
                <a:ea typeface="+mn-lt"/>
                <a:cs typeface="+mn-lt"/>
              </a:rPr>
              <a:t>The server verifies the password, evaluates keystroke </a:t>
            </a:r>
            <a:r>
              <a:rPr lang="en-US" sz="2000" err="1">
                <a:ea typeface="+mn-lt"/>
                <a:cs typeface="+mn-lt"/>
              </a:rPr>
              <a:t>behaviour</a:t>
            </a:r>
            <a:r>
              <a:rPr lang="en-US" sz="2000">
                <a:ea typeface="+mn-lt"/>
                <a:cs typeface="+mn-lt"/>
              </a:rPr>
              <a:t> using the stored SVM model and generates a trust score by combining biometric (60%) and contextual (40%) scores.</a:t>
            </a:r>
          </a:p>
          <a:p>
            <a:r>
              <a:rPr lang="en-US" sz="2000">
                <a:ea typeface="+mn-lt"/>
                <a:cs typeface="+mn-lt"/>
              </a:rPr>
              <a:t>The final trust score is compared with a threshold to </a:t>
            </a:r>
            <a:r>
              <a:rPr lang="en-US" sz="2000" b="1">
                <a:ea typeface="+mn-lt"/>
                <a:cs typeface="+mn-lt"/>
              </a:rPr>
              <a:t>grant, challenge</a:t>
            </a:r>
            <a:r>
              <a:rPr lang="en-US" sz="2000">
                <a:ea typeface="+mn-lt"/>
                <a:cs typeface="+mn-lt"/>
              </a:rPr>
              <a:t> or </a:t>
            </a:r>
            <a:r>
              <a:rPr lang="en-US" sz="2000" b="1">
                <a:ea typeface="+mn-lt"/>
                <a:cs typeface="+mn-lt"/>
              </a:rPr>
              <a:t>deny access</a:t>
            </a:r>
            <a:r>
              <a:rPr lang="en-US" sz="2000">
                <a:ea typeface="+mn-lt"/>
                <a:cs typeface="+mn-lt"/>
              </a:rPr>
              <a:t>.</a:t>
            </a:r>
          </a:p>
        </p:txBody>
      </p:sp>
      <p:pic>
        <p:nvPicPr>
          <p:cNvPr id="11" name="Picture 10" descr="A computer screen shot of a computer&#10;&#10;AI-generated content may be incorrect.">
            <a:extLst>
              <a:ext uri="{FF2B5EF4-FFF2-40B4-BE49-F238E27FC236}">
                <a16:creationId xmlns:a16="http://schemas.microsoft.com/office/drawing/2014/main" id="{86C9EEF6-CBA1-3891-9B67-585F0C607DA9}"/>
              </a:ext>
            </a:extLst>
          </p:cNvPr>
          <p:cNvPicPr>
            <a:picLocks noChangeAspect="1"/>
          </p:cNvPicPr>
          <p:nvPr/>
        </p:nvPicPr>
        <p:blipFill>
          <a:blip r:embed="rId2"/>
          <a:srcRect t="4255" b="7868"/>
          <a:stretch>
            <a:fillRect/>
          </a:stretch>
        </p:blipFill>
        <p:spPr>
          <a:xfrm>
            <a:off x="885265" y="1521857"/>
            <a:ext cx="5566725" cy="4831455"/>
          </a:xfrm>
          <a:prstGeom prst="rect">
            <a:avLst/>
          </a:prstGeom>
        </p:spPr>
      </p:pic>
    </p:spTree>
    <p:extLst>
      <p:ext uri="{BB962C8B-B14F-4D97-AF65-F5344CB8AC3E}">
        <p14:creationId xmlns:p14="http://schemas.microsoft.com/office/powerpoint/2010/main" val="11045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613834" y="2462437"/>
            <a:ext cx="10363200" cy="1362075"/>
          </a:xfrm>
        </p:spPr>
        <p:txBody>
          <a:bodyPr>
            <a:normAutofit fontScale="90000"/>
          </a:bodyPr>
          <a:lstStyle/>
          <a:p>
            <a:pPr algn="ctr"/>
            <a:r>
              <a:rPr lang="en-US" sz="3600" b="0">
                <a:latin typeface="Adobe Devanagari"/>
              </a:rPr>
              <a:t>Behavior Anomaly Detection using Machine Learning to Ensure Continuous Authentication</a:t>
            </a:r>
            <a:endParaRPr lang="en-US"/>
          </a:p>
        </p:txBody>
      </p:sp>
      <p:sp>
        <p:nvSpPr>
          <p:cNvPr id="4" name="Rectangle 3">
            <a:extLst>
              <a:ext uri="{FF2B5EF4-FFF2-40B4-BE49-F238E27FC236}">
                <a16:creationId xmlns:a16="http://schemas.microsoft.com/office/drawing/2014/main" id="{B3BAACE6-3A32-4B05-86B9-0627EA641BA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IT22029386</a:t>
            </a:r>
            <a:r>
              <a:rPr lang="en-US" sz="1800">
                <a:solidFill>
                  <a:schemeClr val="tx1"/>
                </a:solidFill>
              </a:rPr>
              <a:t>   | </a:t>
            </a:r>
            <a:r>
              <a:rPr lang="en-US" err="1">
                <a:solidFill>
                  <a:schemeClr val="tx1"/>
                </a:solidFill>
              </a:rPr>
              <a:t>Wahalathanthri</a:t>
            </a:r>
            <a:r>
              <a:rPr lang="en-US">
                <a:solidFill>
                  <a:schemeClr val="tx1"/>
                </a:solidFill>
              </a:rPr>
              <a:t> C D </a:t>
            </a:r>
            <a:r>
              <a:rPr lang="en-US" sz="1800" b="1">
                <a:solidFill>
                  <a:schemeClr val="tx1"/>
                </a:solidFill>
              </a:rPr>
              <a:t>  </a:t>
            </a:r>
            <a:r>
              <a:rPr lang="en-US" sz="1800">
                <a:solidFill>
                  <a:schemeClr val="tx1"/>
                </a:solidFill>
              </a:rPr>
              <a:t>| </a:t>
            </a:r>
            <a:r>
              <a:rPr lang="en-US">
                <a:solidFill>
                  <a:schemeClr val="tx1"/>
                </a:solidFill>
              </a:rPr>
              <a:t>25-26J-067</a:t>
            </a:r>
            <a:endParaRPr lang="en-US" sz="1800" b="0">
              <a:solidFill>
                <a:schemeClr val="tx1"/>
              </a:solidFill>
            </a:endParaRPr>
          </a:p>
        </p:txBody>
      </p:sp>
      <p:sp>
        <p:nvSpPr>
          <p:cNvPr id="2" name="Text Placeholder 5">
            <a:extLst>
              <a:ext uri="{FF2B5EF4-FFF2-40B4-BE49-F238E27FC236}">
                <a16:creationId xmlns:a16="http://schemas.microsoft.com/office/drawing/2014/main" id="{8BBA20BB-B540-6FA4-4002-BB4B25506ECE}"/>
              </a:ext>
            </a:extLst>
          </p:cNvPr>
          <p:cNvSpPr>
            <a:spLocks noGrp="1"/>
          </p:cNvSpPr>
          <p:nvPr>
            <p:ph type="body" idx="1"/>
          </p:nvPr>
        </p:nvSpPr>
        <p:spPr>
          <a:xfrm>
            <a:off x="963084" y="4237261"/>
            <a:ext cx="10363200" cy="944339"/>
          </a:xfrm>
        </p:spPr>
        <p:txBody>
          <a:bodyPr/>
          <a:lstStyle/>
          <a:p>
            <a:r>
              <a:rPr lang="en-US"/>
              <a:t>BSC (HONS) DEGREE IN INFORMATION TECHNOLOGY (SPECIALIZATION IN </a:t>
            </a:r>
          </a:p>
          <a:p>
            <a:r>
              <a:rPr lang="en-US"/>
              <a:t>CYBER SECURITY)</a:t>
            </a:r>
          </a:p>
        </p:txBody>
      </p:sp>
      <p:pic>
        <p:nvPicPr>
          <p:cNvPr id="3" name="Picture 2">
            <a:extLst>
              <a:ext uri="{FF2B5EF4-FFF2-40B4-BE49-F238E27FC236}">
                <a16:creationId xmlns:a16="http://schemas.microsoft.com/office/drawing/2014/main" id="{C82DB940-AF42-1DAB-E9BD-E4D49A731395}"/>
              </a:ext>
            </a:extLst>
          </p:cNvPr>
          <p:cNvPicPr>
            <a:picLocks noChangeAspect="1"/>
          </p:cNvPicPr>
          <p:nvPr/>
        </p:nvPicPr>
        <p:blipFill>
          <a:blip r:embed="rId2"/>
          <a:stretch>
            <a:fillRect/>
          </a:stretch>
        </p:blipFill>
        <p:spPr>
          <a:xfrm>
            <a:off x="10053882" y="128467"/>
            <a:ext cx="2074904" cy="2335171"/>
          </a:xfrm>
          <a:prstGeom prst="rect">
            <a:avLst/>
          </a:prstGeom>
        </p:spPr>
      </p:pic>
    </p:spTree>
    <p:extLst>
      <p:ext uri="{BB962C8B-B14F-4D97-AF65-F5344CB8AC3E}">
        <p14:creationId xmlns:p14="http://schemas.microsoft.com/office/powerpoint/2010/main" val="2563680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254420" y="846754"/>
            <a:ext cx="11684000" cy="868362"/>
          </a:xfrm>
        </p:spPr>
        <p:txBody>
          <a:bodyPr>
            <a:normAutofit fontScale="90000"/>
          </a:bodyPr>
          <a:lstStyle/>
          <a:p>
            <a:r>
              <a:rPr lang="en-US" sz="4000" cap="all">
                <a:latin typeface="Adobe Devanagari"/>
              </a:rPr>
              <a:t>Behavior Anomaly Detection using Machine Learning to Ensure Continuous Authentication</a:t>
            </a:r>
            <a:br>
              <a:rPr lang="en-US"/>
            </a:br>
            <a:endParaRPr lang="en-US"/>
          </a:p>
        </p:txBody>
      </p:sp>
      <p:sp>
        <p:nvSpPr>
          <p:cNvPr id="6" name="Content Placeholder 5">
            <a:extLst>
              <a:ext uri="{FF2B5EF4-FFF2-40B4-BE49-F238E27FC236}">
                <a16:creationId xmlns:a16="http://schemas.microsoft.com/office/drawing/2014/main" id="{F7E461F4-E6D8-4801-94AA-9B72FC99FFED}"/>
              </a:ext>
            </a:extLst>
          </p:cNvPr>
          <p:cNvSpPr>
            <a:spLocks noGrp="1"/>
          </p:cNvSpPr>
          <p:nvPr>
            <p:ph idx="1"/>
          </p:nvPr>
        </p:nvSpPr>
        <p:spPr>
          <a:xfrm>
            <a:off x="259977" y="1980060"/>
            <a:ext cx="11684000" cy="3803277"/>
          </a:xfrm>
          <a:prstGeom prst="round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rmAutofit lnSpcReduction="10000"/>
          </a:bodyPr>
          <a:lstStyle/>
          <a:p>
            <a:r>
              <a:rPr lang="en-US" sz="1600" b="1">
                <a:ea typeface="+mn-lt"/>
                <a:cs typeface="+mn-lt"/>
              </a:rPr>
              <a:t>How the solution addresses the sub-problem / prototype</a:t>
            </a:r>
            <a:br>
              <a:rPr lang="en-US" sz="1600" b="1">
                <a:ea typeface="+mn-lt"/>
                <a:cs typeface="+mn-lt"/>
              </a:rPr>
            </a:br>
            <a:r>
              <a:rPr lang="en-US" sz="1600" b="1">
                <a:ea typeface="+mn-lt"/>
                <a:cs typeface="+mn-lt"/>
              </a:rPr>
              <a:t> Continuous authentication detects abnormal behavior and stops session hijacking during active LAN sessions.</a:t>
            </a:r>
            <a:endParaRPr lang="en-US" sz="1600">
              <a:ea typeface="Cambria"/>
            </a:endParaRPr>
          </a:p>
          <a:p>
            <a:pPr marL="0" indent="0">
              <a:buNone/>
            </a:pPr>
            <a:endParaRPr lang="en-US" sz="1600" b="1">
              <a:ea typeface="+mn-lt"/>
              <a:cs typeface="+mn-lt"/>
            </a:endParaRPr>
          </a:p>
          <a:p>
            <a:r>
              <a:rPr lang="en-US" sz="1600" b="1">
                <a:ea typeface="+mn-lt"/>
                <a:cs typeface="+mn-lt"/>
              </a:rPr>
              <a:t>User requirements addressed by the solution</a:t>
            </a:r>
            <a:br>
              <a:rPr lang="en-US" sz="1600" b="1">
                <a:ea typeface="+mn-lt"/>
                <a:cs typeface="+mn-lt"/>
              </a:rPr>
            </a:br>
            <a:r>
              <a:rPr lang="en-US" sz="1600" b="1">
                <a:ea typeface="+mn-lt"/>
                <a:cs typeface="+mn-lt"/>
              </a:rPr>
              <a:t> Secure file access, real-time monitoring, low user disruption, and fast detection/response to suspicious activity.</a:t>
            </a:r>
            <a:endParaRPr lang="en-US" sz="1600">
              <a:ea typeface="Cambria"/>
            </a:endParaRPr>
          </a:p>
          <a:p>
            <a:endParaRPr lang="en-US" sz="1600" b="1">
              <a:ea typeface="+mn-lt"/>
              <a:cs typeface="+mn-lt"/>
            </a:endParaRPr>
          </a:p>
          <a:p>
            <a:r>
              <a:rPr lang="en-US" sz="1600" b="1">
                <a:ea typeface="+mn-lt"/>
                <a:cs typeface="+mn-lt"/>
              </a:rPr>
              <a:t>Design excellence / contribution</a:t>
            </a:r>
            <a:br>
              <a:rPr lang="en-US" sz="1600" b="1">
                <a:ea typeface="+mn-lt"/>
                <a:cs typeface="+mn-lt"/>
              </a:rPr>
            </a:br>
            <a:r>
              <a:rPr lang="en-US" sz="1600" b="1">
                <a:ea typeface="+mn-lt"/>
                <a:cs typeface="+mn-lt"/>
              </a:rPr>
              <a:t> Uses ML-based behavioral analysis (multi-context) to provide adaptive, continuous security beyond traditional login methods.</a:t>
            </a:r>
            <a:endParaRPr lang="en-US" sz="1600">
              <a:ea typeface="Cambria"/>
            </a:endParaRPr>
          </a:p>
          <a:p>
            <a:pPr marL="0" indent="0">
              <a:buNone/>
            </a:pPr>
            <a:endParaRPr lang="en-US" sz="1600" b="1">
              <a:ea typeface="+mn-lt"/>
              <a:cs typeface="+mn-lt"/>
            </a:endParaRPr>
          </a:p>
          <a:p>
            <a:r>
              <a:rPr lang="en-US" sz="1600" b="1">
                <a:ea typeface="+mn-lt"/>
                <a:cs typeface="+mn-lt"/>
              </a:rPr>
              <a:t>User feedback on prototype</a:t>
            </a:r>
            <a:br>
              <a:rPr lang="en-US" sz="1600" b="1">
                <a:ea typeface="+mn-lt"/>
                <a:cs typeface="+mn-lt"/>
              </a:rPr>
            </a:br>
            <a:r>
              <a:rPr lang="en-US" sz="1600" b="1">
                <a:ea typeface="+mn-lt"/>
                <a:cs typeface="+mn-lt"/>
              </a:rPr>
              <a:t> Easy to use, minimal interruptions, improved confidence in session security — highlighted need to add face recognition and remove keystroke focus.</a:t>
            </a:r>
            <a:endParaRPr lang="en-US" sz="1600">
              <a:ea typeface="Cambria"/>
            </a:endParaRPr>
          </a:p>
          <a:p>
            <a:endParaRPr lang="en-US" sz="2400">
              <a:ea typeface="Cambria"/>
            </a:endParaRPr>
          </a:p>
          <a:p>
            <a:pPr marL="0" indent="0">
              <a:buNone/>
            </a:pPr>
            <a:endParaRPr lang="en-US" sz="2400">
              <a:ea typeface="Cambria"/>
            </a:endParaRPr>
          </a:p>
          <a:p>
            <a:endParaRPr lang="en-US" sz="2400" b="1">
              <a:ea typeface="Cambria"/>
            </a:endParaRPr>
          </a:p>
          <a:p>
            <a:endParaRPr lang="en-US" sz="2400">
              <a:ea typeface="+mn-lt"/>
              <a:cs typeface="+mn-lt"/>
            </a:endParaRPr>
          </a:p>
          <a:p>
            <a:pPr marL="0" indent="0">
              <a:buNone/>
            </a:pPr>
            <a:endParaRPr lang="en-US" sz="2800">
              <a:highlight>
                <a:srgbClr val="FFFF00"/>
              </a:highlight>
              <a:ea typeface="+mn-lt"/>
              <a:cs typeface="+mn-lt"/>
            </a:endParaRPr>
          </a:p>
          <a:p>
            <a:pPr marL="0" indent="0">
              <a:buNone/>
            </a:pPr>
            <a:endParaRPr lang="en-US">
              <a:highlight>
                <a:srgbClr val="FFFF00"/>
              </a:highlight>
              <a:ea typeface="Cambria"/>
            </a:endParaRPr>
          </a:p>
        </p:txBody>
      </p:sp>
      <p:sp>
        <p:nvSpPr>
          <p:cNvPr id="4" name="Rectangle 3">
            <a:extLst>
              <a:ext uri="{FF2B5EF4-FFF2-40B4-BE49-F238E27FC236}">
                <a16:creationId xmlns:a16="http://schemas.microsoft.com/office/drawing/2014/main" id="{C0DBF228-4B29-4775-AE86-C4CEA3B1156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ea typeface="Cambria"/>
              </a:rPr>
              <a:t>IT22029386 | </a:t>
            </a:r>
            <a:r>
              <a:rPr lang="en-US" b="1" err="1">
                <a:solidFill>
                  <a:schemeClr val="tx1"/>
                </a:solidFill>
                <a:ea typeface="Cambria"/>
              </a:rPr>
              <a:t>Wahalathanthri</a:t>
            </a:r>
            <a:r>
              <a:rPr lang="en-US" b="1">
                <a:solidFill>
                  <a:schemeClr val="tx1"/>
                </a:solidFill>
                <a:ea typeface="Cambria"/>
              </a:rPr>
              <a:t> C D  | 25-26J-067</a:t>
            </a:r>
          </a:p>
        </p:txBody>
      </p:sp>
    </p:spTree>
    <p:extLst>
      <p:ext uri="{BB962C8B-B14F-4D97-AF65-F5344CB8AC3E}">
        <p14:creationId xmlns:p14="http://schemas.microsoft.com/office/powerpoint/2010/main" val="2207612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EE5A6-4E1A-AF72-8527-7DAF7614DB08}"/>
              </a:ext>
            </a:extLst>
          </p:cNvPr>
          <p:cNvSpPr>
            <a:spLocks noGrp="1"/>
          </p:cNvSpPr>
          <p:nvPr>
            <p:ph type="title"/>
          </p:nvPr>
        </p:nvSpPr>
        <p:spPr>
          <a:xfrm>
            <a:off x="161518" y="767210"/>
            <a:ext cx="11684000" cy="792162"/>
          </a:xfrm>
        </p:spPr>
        <p:txBody>
          <a:bodyPr>
            <a:normAutofit fontScale="90000"/>
          </a:bodyPr>
          <a:lstStyle/>
          <a:p>
            <a:r>
              <a:rPr lang="en-US" sz="3200" cap="all">
                <a:latin typeface="Adobe Devanagari"/>
              </a:rPr>
              <a:t>Behavior Anomaly Detection using Machine Learning to Ensure Continuous Authentication</a:t>
            </a:r>
            <a:endParaRPr lang="en-US" sz="3200">
              <a:latin typeface="Adobe Devanagari"/>
            </a:endParaRPr>
          </a:p>
          <a:p>
            <a:endParaRPr lang="en-US" sz="4000">
              <a:latin typeface="Adobe Devanagari"/>
            </a:endParaRPr>
          </a:p>
        </p:txBody>
      </p:sp>
      <p:sp>
        <p:nvSpPr>
          <p:cNvPr id="3" name="Content Placeholder 2">
            <a:extLst>
              <a:ext uri="{FF2B5EF4-FFF2-40B4-BE49-F238E27FC236}">
                <a16:creationId xmlns:a16="http://schemas.microsoft.com/office/drawing/2014/main" id="{8D41A062-1B1A-194B-9A0D-CC537B43E210}"/>
              </a:ext>
            </a:extLst>
          </p:cNvPr>
          <p:cNvSpPr>
            <a:spLocks noGrp="1"/>
          </p:cNvSpPr>
          <p:nvPr>
            <p:ph idx="1"/>
          </p:nvPr>
        </p:nvSpPr>
        <p:spPr>
          <a:xfrm>
            <a:off x="443198" y="2028743"/>
            <a:ext cx="11740029" cy="4049806"/>
          </a:xfrm>
        </p:spPr>
        <p:txBody>
          <a:bodyPr vert="horz" lIns="91440" tIns="45720" rIns="91440" bIns="45720" rtlCol="0" anchor="t">
            <a:normAutofit/>
          </a:bodyPr>
          <a:lstStyle/>
          <a:p>
            <a:pPr algn="just">
              <a:buNone/>
            </a:pPr>
            <a:r>
              <a:rPr lang="en-US" sz="1600" b="1">
                <a:ea typeface="+mn-lt"/>
                <a:cs typeface="+mn-lt"/>
              </a:rPr>
              <a:t>Commercialization/Sustainability</a:t>
            </a:r>
            <a:br>
              <a:rPr lang="en-US" sz="1600" b="1">
                <a:ea typeface="+mn-lt"/>
                <a:cs typeface="+mn-lt"/>
              </a:rPr>
            </a:br>
            <a:r>
              <a:rPr lang="en-US" sz="1600" b="1">
                <a:ea typeface="+mn-lt"/>
                <a:cs typeface="+mn-lt"/>
              </a:rPr>
              <a:t> Scalable security platform for organizations; licensing + subscription model ensures long-term updates and support.</a:t>
            </a:r>
            <a:endParaRPr lang="en-US"/>
          </a:p>
          <a:p>
            <a:pPr algn="just">
              <a:buNone/>
            </a:pPr>
            <a:endParaRPr lang="en-US" sz="1600" b="1">
              <a:ea typeface="Cambria"/>
            </a:endParaRPr>
          </a:p>
          <a:p>
            <a:pPr algn="just">
              <a:buNone/>
            </a:pPr>
            <a:r>
              <a:rPr lang="en-US" sz="1600" b="1">
                <a:ea typeface="+mn-lt"/>
                <a:cs typeface="+mn-lt"/>
              </a:rPr>
              <a:t>Customer Persona</a:t>
            </a:r>
            <a:br>
              <a:rPr lang="en-US" sz="1600" b="1">
                <a:ea typeface="+mn-lt"/>
                <a:cs typeface="+mn-lt"/>
              </a:rPr>
            </a:br>
            <a:r>
              <a:rPr lang="en-US" sz="1600" b="1">
                <a:ea typeface="+mn-lt"/>
                <a:cs typeface="+mn-lt"/>
              </a:rPr>
              <a:t> IT admins, cybersecurity teams, SMEs, enterprises, government, healthcare, and finance organizations handling sensitive data.</a:t>
            </a:r>
            <a:endParaRPr lang="en-US"/>
          </a:p>
          <a:p>
            <a:pPr algn="just">
              <a:buNone/>
            </a:pPr>
            <a:r>
              <a:rPr lang="en-US" sz="1600" b="1">
                <a:ea typeface="+mn-lt"/>
                <a:cs typeface="+mn-lt"/>
              </a:rPr>
              <a:t>Market Size</a:t>
            </a:r>
            <a:br>
              <a:rPr lang="en-US" sz="1600" b="1">
                <a:ea typeface="+mn-lt"/>
                <a:cs typeface="+mn-lt"/>
              </a:rPr>
            </a:br>
            <a:r>
              <a:rPr lang="en-US" sz="1600" b="1">
                <a:ea typeface="+mn-lt"/>
                <a:cs typeface="+mn-lt"/>
              </a:rPr>
              <a:t> Rapidly growing global cybersecurity market (billions USD), driven by insider threats and secure LAN requirements.</a:t>
            </a:r>
            <a:endParaRPr lang="en-US"/>
          </a:p>
          <a:p>
            <a:pPr algn="just">
              <a:buNone/>
            </a:pPr>
            <a:r>
              <a:rPr lang="en-US" sz="1600" b="1">
                <a:ea typeface="+mn-lt"/>
                <a:cs typeface="+mn-lt"/>
              </a:rPr>
              <a:t>What is Unique in Your Solution</a:t>
            </a:r>
            <a:br>
              <a:rPr lang="en-US" sz="1600" b="1">
                <a:ea typeface="+mn-lt"/>
                <a:cs typeface="+mn-lt"/>
              </a:rPr>
            </a:br>
            <a:r>
              <a:rPr lang="en-US" sz="1600" b="1">
                <a:ea typeface="+mn-lt"/>
                <a:cs typeface="+mn-lt"/>
              </a:rPr>
              <a:t> Session-level continuous authentication using ML + behavior analytics (and face recognition) specifically designed for LAN environments.</a:t>
            </a:r>
            <a:endParaRPr lang="en-US"/>
          </a:p>
          <a:p>
            <a:pPr algn="just">
              <a:buNone/>
            </a:pPr>
            <a:r>
              <a:rPr lang="en-US" sz="1600" b="1">
                <a:ea typeface="+mn-lt"/>
                <a:cs typeface="+mn-lt"/>
              </a:rPr>
              <a:t>How Will the Cost Be Recovered?</a:t>
            </a:r>
            <a:br>
              <a:rPr lang="en-US" sz="1600" b="1">
                <a:ea typeface="+mn-lt"/>
                <a:cs typeface="+mn-lt"/>
              </a:rPr>
            </a:br>
            <a:r>
              <a:rPr lang="en-US" sz="1600" b="1">
                <a:ea typeface="+mn-lt"/>
                <a:cs typeface="+mn-lt"/>
              </a:rPr>
              <a:t> Software licensing, SaaS subscriptions, customization services, training, and maintenance contracts.</a:t>
            </a:r>
            <a:endParaRPr lang="en-US"/>
          </a:p>
          <a:p>
            <a:pPr algn="just">
              <a:buNone/>
            </a:pPr>
            <a:endParaRPr lang="en-US" sz="1600" b="1">
              <a:ea typeface="Cambria"/>
            </a:endParaRPr>
          </a:p>
          <a:p>
            <a:pPr algn="just">
              <a:buNone/>
            </a:pPr>
            <a:endParaRPr lang="en-US" sz="1600" b="1">
              <a:ea typeface="Cambria"/>
            </a:endParaRPr>
          </a:p>
          <a:p>
            <a:pPr algn="just">
              <a:buNone/>
            </a:pPr>
            <a:endParaRPr lang="en-US" sz="1600" b="1">
              <a:ea typeface="Cambria"/>
            </a:endParaRPr>
          </a:p>
          <a:p>
            <a:pPr algn="just">
              <a:buNone/>
            </a:pPr>
            <a:endParaRPr lang="en-US" sz="1800" b="1">
              <a:ea typeface="Cambria"/>
            </a:endParaRPr>
          </a:p>
          <a:p>
            <a:pPr algn="just">
              <a:buNone/>
            </a:pPr>
            <a:endParaRPr lang="en-US" b="1">
              <a:ea typeface="Cambria"/>
            </a:endParaRPr>
          </a:p>
          <a:p>
            <a:pPr marL="0" indent="0" algn="ctr">
              <a:buNone/>
            </a:pPr>
            <a:endParaRPr lang="en-US">
              <a:ea typeface="Cambria"/>
            </a:endParaRPr>
          </a:p>
        </p:txBody>
      </p:sp>
    </p:spTree>
    <p:extLst>
      <p:ext uri="{BB962C8B-B14F-4D97-AF65-F5344CB8AC3E}">
        <p14:creationId xmlns:p14="http://schemas.microsoft.com/office/powerpoint/2010/main" val="230721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F10CD-B78A-5D18-3F6F-A981929A56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087437-3885-4742-1666-F83E5E612521}"/>
              </a:ext>
            </a:extLst>
          </p:cNvPr>
          <p:cNvSpPr>
            <a:spLocks noGrp="1"/>
          </p:cNvSpPr>
          <p:nvPr>
            <p:ph type="title"/>
          </p:nvPr>
        </p:nvSpPr>
        <p:spPr/>
        <p:txBody>
          <a:bodyPr/>
          <a:lstStyle/>
          <a:p>
            <a:r>
              <a:rPr lang="en-US">
                <a:latin typeface="Adobe Devanagari"/>
              </a:rPr>
              <a:t>IT22323002 | HIRIMUTHUGDODA N A</a:t>
            </a:r>
            <a:endParaRPr lang="en-US"/>
          </a:p>
        </p:txBody>
      </p:sp>
      <p:sp>
        <p:nvSpPr>
          <p:cNvPr id="6" name="Text Placeholder 5">
            <a:extLst>
              <a:ext uri="{FF2B5EF4-FFF2-40B4-BE49-F238E27FC236}">
                <a16:creationId xmlns:a16="http://schemas.microsoft.com/office/drawing/2014/main" id="{C9C8F4FB-BD9D-6337-B727-8D7C540ED364}"/>
              </a:ext>
            </a:extLst>
          </p:cNvPr>
          <p:cNvSpPr>
            <a:spLocks noGrp="1"/>
          </p:cNvSpPr>
          <p:nvPr>
            <p:ph type="body" idx="1"/>
          </p:nvPr>
        </p:nvSpPr>
        <p:spPr/>
        <p:txBody>
          <a:bodyPr>
            <a:normAutofit/>
          </a:bodyPr>
          <a:lstStyle/>
          <a:p>
            <a:r>
              <a:rPr lang="en-US" cap="all">
                <a:solidFill>
                  <a:schemeClr val="tx1"/>
                </a:solidFill>
                <a:latin typeface="Cambria"/>
                <a:ea typeface="Cambria"/>
              </a:rPr>
              <a:t>Secure file viewing with a new biometric to lockdown browser</a:t>
            </a:r>
            <a:endParaRPr lang="en-US">
              <a:solidFill>
                <a:schemeClr val="tx1"/>
              </a:solidFill>
              <a:latin typeface="Cambria"/>
              <a:ea typeface="Cambria"/>
            </a:endParaRPr>
          </a:p>
          <a:p>
            <a:endParaRPr lang="en-US"/>
          </a:p>
          <a:p>
            <a:endParaRPr lang="en-US"/>
          </a:p>
          <a:p>
            <a:r>
              <a:rPr lang="en-US">
                <a:solidFill>
                  <a:schemeClr val="tx1"/>
                </a:solidFill>
              </a:rPr>
              <a:t>Specialization: Cyber Security </a:t>
            </a:r>
            <a:endParaRPr lang="en-US">
              <a:solidFill>
                <a:schemeClr val="tx1"/>
              </a:solidFill>
              <a:ea typeface="Cambria"/>
            </a:endParaRPr>
          </a:p>
        </p:txBody>
      </p:sp>
      <p:sp>
        <p:nvSpPr>
          <p:cNvPr id="4" name="Rectangle 3">
            <a:extLst>
              <a:ext uri="{FF2B5EF4-FFF2-40B4-BE49-F238E27FC236}">
                <a16:creationId xmlns:a16="http://schemas.microsoft.com/office/drawing/2014/main" id="{81B5A6A8-2065-F02B-C388-CAFA0BFE679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IT2323002</a:t>
            </a:r>
            <a:r>
              <a:rPr lang="en-US" sz="1800">
                <a:solidFill>
                  <a:schemeClr val="tx1"/>
                </a:solidFill>
              </a:rPr>
              <a:t>   |</a:t>
            </a:r>
            <a:r>
              <a:rPr lang="en-US">
                <a:solidFill>
                  <a:schemeClr val="tx1"/>
                </a:solidFill>
              </a:rPr>
              <a:t>   </a:t>
            </a:r>
            <a:r>
              <a:rPr lang="en-US" b="1">
                <a:solidFill>
                  <a:schemeClr val="tx1"/>
                </a:solidFill>
              </a:rPr>
              <a:t>HIRIMUTHUGODA N</a:t>
            </a:r>
            <a:r>
              <a:rPr lang="en-US" sz="1800" b="1">
                <a:solidFill>
                  <a:schemeClr val="tx1"/>
                </a:solidFill>
              </a:rPr>
              <a:t> </a:t>
            </a:r>
            <a:r>
              <a:rPr lang="en-US" b="1">
                <a:solidFill>
                  <a:schemeClr val="tx1"/>
                </a:solidFill>
              </a:rPr>
              <a:t>A </a:t>
            </a:r>
            <a:r>
              <a:rPr lang="en-US" sz="1800" b="1">
                <a:solidFill>
                  <a:schemeClr val="tx1"/>
                </a:solidFill>
              </a:rPr>
              <a:t>  </a:t>
            </a:r>
            <a:r>
              <a:rPr lang="en-US" sz="1800">
                <a:solidFill>
                  <a:schemeClr val="tx1"/>
                </a:solidFill>
              </a:rPr>
              <a:t>|   </a:t>
            </a:r>
            <a:r>
              <a:rPr lang="en-US" b="1">
                <a:solidFill>
                  <a:schemeClr val="tx1"/>
                </a:solidFill>
              </a:rPr>
              <a:t>25-26J-967</a:t>
            </a:r>
            <a:endParaRPr lang="en-US" sz="1800" b="1">
              <a:solidFill>
                <a:schemeClr val="tx1"/>
              </a:solidFill>
            </a:endParaRPr>
          </a:p>
        </p:txBody>
      </p:sp>
      <p:pic>
        <p:nvPicPr>
          <p:cNvPr id="3" name="Picture 2" descr="A person in a suit and tie&#10;&#10;AI-generated content may be incorrect.">
            <a:extLst>
              <a:ext uri="{FF2B5EF4-FFF2-40B4-BE49-F238E27FC236}">
                <a16:creationId xmlns:a16="http://schemas.microsoft.com/office/drawing/2014/main" id="{6BE7409B-8718-D455-F6AE-ED1608D41C56}"/>
              </a:ext>
            </a:extLst>
          </p:cNvPr>
          <p:cNvPicPr>
            <a:picLocks noChangeAspect="1"/>
          </p:cNvPicPr>
          <p:nvPr/>
        </p:nvPicPr>
        <p:blipFill>
          <a:blip r:embed="rId2"/>
          <a:stretch>
            <a:fillRect/>
          </a:stretch>
        </p:blipFill>
        <p:spPr>
          <a:xfrm>
            <a:off x="10116230" y="134882"/>
            <a:ext cx="2017088" cy="2317648"/>
          </a:xfrm>
          <a:prstGeom prst="rect">
            <a:avLst/>
          </a:prstGeom>
        </p:spPr>
      </p:pic>
    </p:spTree>
    <p:extLst>
      <p:ext uri="{BB962C8B-B14F-4D97-AF65-F5344CB8AC3E}">
        <p14:creationId xmlns:p14="http://schemas.microsoft.com/office/powerpoint/2010/main" val="288878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2D917-9C18-D6D7-1CA7-7ACE872B47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4F66F7-053C-A391-15F6-0E898CBF1A1C}"/>
              </a:ext>
            </a:extLst>
          </p:cNvPr>
          <p:cNvSpPr>
            <a:spLocks noGrp="1"/>
          </p:cNvSpPr>
          <p:nvPr>
            <p:ph type="title"/>
          </p:nvPr>
        </p:nvSpPr>
        <p:spPr>
          <a:xfrm>
            <a:off x="1408206" y="545243"/>
            <a:ext cx="9330764" cy="958008"/>
          </a:xfrm>
        </p:spPr>
        <p:txBody>
          <a:bodyPr vert="horz" lIns="91440" tIns="45720" rIns="91440" bIns="45720" rtlCol="0" anchor="ctr">
            <a:noAutofit/>
          </a:bodyPr>
          <a:lstStyle/>
          <a:p>
            <a:r>
              <a:rPr lang="en-US" sz="3600" b="1">
                <a:latin typeface="Cambria"/>
                <a:ea typeface="Cambria"/>
              </a:rPr>
              <a:t>Secure file viewing with a new </a:t>
            </a:r>
            <a:br>
              <a:rPr lang="en-US" sz="3600" b="1">
                <a:latin typeface="Cambria"/>
              </a:rPr>
            </a:br>
            <a:r>
              <a:rPr lang="en-US" sz="3600" b="1">
                <a:latin typeface="Cambria"/>
                <a:ea typeface="Cambria"/>
              </a:rPr>
              <a:t>biometric to lockdown browser</a:t>
            </a:r>
            <a:br>
              <a:rPr lang="en-US" sz="3600">
                <a:latin typeface="Adobe Devanagari"/>
              </a:rPr>
            </a:br>
            <a:endParaRPr lang="en-US" sz="3600"/>
          </a:p>
        </p:txBody>
      </p:sp>
      <p:sp>
        <p:nvSpPr>
          <p:cNvPr id="6" name="Content Placeholder 5">
            <a:extLst>
              <a:ext uri="{FF2B5EF4-FFF2-40B4-BE49-F238E27FC236}">
                <a16:creationId xmlns:a16="http://schemas.microsoft.com/office/drawing/2014/main" id="{A4DAB8CA-E6A4-89AC-F3DE-354468237B8E}"/>
              </a:ext>
            </a:extLst>
          </p:cNvPr>
          <p:cNvSpPr>
            <a:spLocks noGrp="1"/>
          </p:cNvSpPr>
          <p:nvPr>
            <p:ph idx="1"/>
          </p:nvPr>
        </p:nvSpPr>
        <p:spPr>
          <a:xfrm>
            <a:off x="248771" y="1714500"/>
            <a:ext cx="11684000" cy="4240306"/>
          </a:xfrm>
          <a:prstGeom prst="round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chor="t">
            <a:noAutofit/>
          </a:bodyPr>
          <a:lstStyle/>
          <a:p>
            <a:pPr marL="0" indent="0">
              <a:buNone/>
            </a:pPr>
            <a:r>
              <a:rPr lang="en-US" sz="2400" b="1">
                <a:ea typeface="Cambria"/>
              </a:rPr>
              <a:t>Problems addressed: </a:t>
            </a:r>
          </a:p>
          <a:p>
            <a:pPr marL="0" indent="0">
              <a:buNone/>
            </a:pPr>
            <a:endParaRPr lang="en-US" sz="2400" b="1"/>
          </a:p>
          <a:p>
            <a:r>
              <a:rPr lang="en-US" sz="2400"/>
              <a:t>Privacy issues when storing biometric data.</a:t>
            </a:r>
            <a:endParaRPr lang="en-US" sz="2400">
              <a:ea typeface="Cambria"/>
            </a:endParaRPr>
          </a:p>
          <a:p>
            <a:r>
              <a:rPr lang="en-US" sz="2400"/>
              <a:t>Deepfakes.</a:t>
            </a:r>
            <a:endParaRPr lang="en-US" sz="2400">
              <a:ea typeface="Cambria"/>
            </a:endParaRPr>
          </a:p>
          <a:p>
            <a:r>
              <a:rPr lang="en-US" sz="2400">
                <a:ea typeface="Cambria"/>
              </a:rPr>
              <a:t>Users fall victim to phishing links</a:t>
            </a:r>
          </a:p>
          <a:p>
            <a:r>
              <a:rPr lang="en-US" sz="2400">
                <a:ea typeface="Cambria"/>
              </a:rPr>
              <a:t>Brute-Forcing 2FA codes sent.</a:t>
            </a:r>
          </a:p>
          <a:p>
            <a:endParaRPr lang="en-US">
              <a:ea typeface="Cambria"/>
            </a:endParaRPr>
          </a:p>
          <a:p>
            <a:endParaRPr lang="en-US">
              <a:ea typeface="Cambria"/>
            </a:endParaRPr>
          </a:p>
        </p:txBody>
      </p:sp>
      <p:sp>
        <p:nvSpPr>
          <p:cNvPr id="2" name="Rectangle 1">
            <a:extLst>
              <a:ext uri="{FF2B5EF4-FFF2-40B4-BE49-F238E27FC236}">
                <a16:creationId xmlns:a16="http://schemas.microsoft.com/office/drawing/2014/main" id="{030C84C0-F274-E02B-5D5C-D0E2384A2B5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800" b="1">
                <a:solidFill>
                  <a:schemeClr val="tx1"/>
                </a:solidFill>
              </a:rPr>
              <a:t>IT22323002</a:t>
            </a:r>
            <a:r>
              <a:rPr lang="en-US" sz="1800">
                <a:solidFill>
                  <a:schemeClr val="tx1"/>
                </a:solidFill>
              </a:rPr>
              <a:t>  |</a:t>
            </a:r>
            <a:r>
              <a:rPr lang="en-US" sz="1800" b="1">
                <a:solidFill>
                  <a:schemeClr val="tx1"/>
                </a:solidFill>
              </a:rPr>
              <a:t>   </a:t>
            </a:r>
            <a:r>
              <a:rPr lang="en-US" sz="1800" b="1" err="1">
                <a:solidFill>
                  <a:schemeClr val="tx1"/>
                </a:solidFill>
              </a:rPr>
              <a:t>Hirimuthugoda</a:t>
            </a:r>
            <a:r>
              <a:rPr lang="en-US" sz="1800" b="1">
                <a:solidFill>
                  <a:schemeClr val="tx1"/>
                </a:solidFill>
              </a:rPr>
              <a:t> N A|   </a:t>
            </a:r>
            <a:r>
              <a:rPr lang="en-US" b="1">
                <a:solidFill>
                  <a:schemeClr val="tx1"/>
                </a:solidFill>
              </a:rPr>
              <a:t>25-26J-067</a:t>
            </a:r>
            <a:endParaRPr lang="en-US" sz="1800" b="1">
              <a:solidFill>
                <a:schemeClr val="tx1"/>
              </a:solidFill>
              <a:ea typeface="Cambria"/>
            </a:endParaRPr>
          </a:p>
        </p:txBody>
      </p:sp>
    </p:spTree>
    <p:extLst>
      <p:ext uri="{BB962C8B-B14F-4D97-AF65-F5344CB8AC3E}">
        <p14:creationId xmlns:p14="http://schemas.microsoft.com/office/powerpoint/2010/main" val="518287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62FC5-AFE3-A9C2-CBCD-86A5E9A11C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725C07F-3089-9E32-8E42-2AE8A29C4F91}"/>
              </a:ext>
            </a:extLst>
          </p:cNvPr>
          <p:cNvSpPr>
            <a:spLocks noGrp="1"/>
          </p:cNvSpPr>
          <p:nvPr>
            <p:ph type="title"/>
          </p:nvPr>
        </p:nvSpPr>
        <p:spPr>
          <a:xfrm>
            <a:off x="226358" y="883023"/>
            <a:ext cx="11684000" cy="814574"/>
          </a:xfrm>
        </p:spPr>
        <p:txBody>
          <a:bodyPr>
            <a:normAutofit fontScale="90000"/>
          </a:bodyPr>
          <a:lstStyle/>
          <a:p>
            <a:r>
              <a:rPr lang="en-US" sz="4000" b="1">
                <a:latin typeface="Cambria"/>
                <a:ea typeface="Cambria"/>
              </a:rPr>
              <a:t>Secure file viewing with a new </a:t>
            </a:r>
            <a:br>
              <a:rPr lang="en-US" sz="4000" b="1">
                <a:latin typeface="Cambria"/>
              </a:rPr>
            </a:br>
            <a:r>
              <a:rPr lang="en-US" sz="4000" b="1">
                <a:latin typeface="Cambria"/>
                <a:ea typeface="Cambria"/>
              </a:rPr>
              <a:t>biometric to lockdown browser</a:t>
            </a:r>
            <a:br>
              <a:rPr lang="en-US" sz="4000">
                <a:latin typeface="Adobe Devanagari"/>
              </a:rPr>
            </a:br>
            <a:endParaRPr lang="en-US" sz="4000">
              <a:latin typeface="Adobe Devanagari"/>
            </a:endParaRPr>
          </a:p>
          <a:p>
            <a:endParaRPr lang="en-US"/>
          </a:p>
        </p:txBody>
      </p:sp>
      <p:sp>
        <p:nvSpPr>
          <p:cNvPr id="2" name="Rectangle 1">
            <a:extLst>
              <a:ext uri="{FF2B5EF4-FFF2-40B4-BE49-F238E27FC236}">
                <a16:creationId xmlns:a16="http://schemas.microsoft.com/office/drawing/2014/main" id="{A7BB8C45-00A4-1093-14EF-B071D745778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IT22323002</a:t>
            </a:r>
            <a:r>
              <a:rPr lang="en-US" sz="1800">
                <a:solidFill>
                  <a:schemeClr val="tx1"/>
                </a:solidFill>
              </a:rPr>
              <a:t>  |   Hirimuthugoda N A|   </a:t>
            </a:r>
            <a:r>
              <a:rPr lang="en-US">
                <a:solidFill>
                  <a:schemeClr val="tx1"/>
                </a:solidFill>
              </a:rPr>
              <a:t>25-26J-067</a:t>
            </a:r>
            <a:endParaRPr lang="en-US" sz="1800" b="0">
              <a:solidFill>
                <a:schemeClr val="tx1"/>
              </a:solidFill>
            </a:endParaRPr>
          </a:p>
        </p:txBody>
      </p:sp>
      <p:sp>
        <p:nvSpPr>
          <p:cNvPr id="4" name="Content Placeholder 5">
            <a:extLst>
              <a:ext uri="{FF2B5EF4-FFF2-40B4-BE49-F238E27FC236}">
                <a16:creationId xmlns:a16="http://schemas.microsoft.com/office/drawing/2014/main" id="{28FFA51C-55B3-5263-F60F-83A4ECD74A34}"/>
              </a:ext>
            </a:extLst>
          </p:cNvPr>
          <p:cNvSpPr>
            <a:spLocks noGrp="1"/>
          </p:cNvSpPr>
          <p:nvPr>
            <p:ph idx="1"/>
          </p:nvPr>
        </p:nvSpPr>
        <p:spPr>
          <a:xfrm>
            <a:off x="248771" y="1714500"/>
            <a:ext cx="11684000" cy="4240306"/>
          </a:xfrm>
          <a:prstGeom prst="round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chor="t">
            <a:noAutofit/>
          </a:bodyPr>
          <a:lstStyle/>
          <a:p>
            <a:pPr marL="0" indent="0">
              <a:buNone/>
            </a:pPr>
            <a:r>
              <a:rPr lang="en-US" sz="2400" b="1">
                <a:ea typeface="Cambria"/>
              </a:rPr>
              <a:t>Design Excellence: </a:t>
            </a:r>
          </a:p>
          <a:p>
            <a:pPr marL="0" indent="0">
              <a:buNone/>
            </a:pPr>
            <a:endParaRPr lang="en-US" sz="2400" b="1"/>
          </a:p>
          <a:p>
            <a:r>
              <a:rPr lang="en-US" sz="2400">
                <a:ea typeface="+mn-lt"/>
                <a:cs typeface="+mn-lt"/>
              </a:rPr>
              <a:t>Incorporates stability filtering (multiple consecutive frames) to reduce false detections.</a:t>
            </a:r>
            <a:endParaRPr lang="en-US" sz="2400">
              <a:ea typeface="Cambria"/>
            </a:endParaRPr>
          </a:p>
          <a:p>
            <a:r>
              <a:rPr lang="en-US" sz="2400">
                <a:ea typeface="+mn-lt"/>
                <a:cs typeface="+mn-lt"/>
              </a:rPr>
              <a:t>Fully offline operation, reducing dependency on external services and networks.</a:t>
            </a:r>
          </a:p>
          <a:p>
            <a:r>
              <a:rPr lang="en-US" sz="2400">
                <a:ea typeface="Cambria"/>
              </a:rPr>
              <a:t>No Data Storage required, less costly.</a:t>
            </a:r>
          </a:p>
          <a:p>
            <a:endParaRPr lang="en-US">
              <a:ea typeface="Cambria"/>
            </a:endParaRPr>
          </a:p>
          <a:p>
            <a:endParaRPr lang="en-US">
              <a:ea typeface="Cambria"/>
            </a:endParaRPr>
          </a:p>
        </p:txBody>
      </p:sp>
    </p:spTree>
    <p:extLst>
      <p:ext uri="{BB962C8B-B14F-4D97-AF65-F5344CB8AC3E}">
        <p14:creationId xmlns:p14="http://schemas.microsoft.com/office/powerpoint/2010/main" val="2641249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p:txBody>
          <a:bodyPr/>
          <a:lstStyle/>
          <a:p>
            <a:r>
              <a:rPr lang="en-US">
                <a:latin typeface="Adobe Devanagari"/>
              </a:rPr>
              <a:t>IT22892744 | Dias w p s</a:t>
            </a:r>
            <a:endParaRPr lang="en-US"/>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lstStyle/>
          <a:p>
            <a:r>
              <a:rPr lang="en-US">
                <a:solidFill>
                  <a:schemeClr val="tx1"/>
                </a:solidFill>
                <a:ea typeface="+mn-lt"/>
                <a:cs typeface="+mn-lt"/>
              </a:rPr>
              <a:t>Dual-Visibility </a:t>
            </a:r>
            <a:r>
              <a:rPr lang="en-US" err="1">
                <a:solidFill>
                  <a:schemeClr val="tx1"/>
                </a:solidFill>
                <a:ea typeface="+mn-lt"/>
                <a:cs typeface="+mn-lt"/>
              </a:rPr>
              <a:t>PoA</a:t>
            </a:r>
            <a:r>
              <a:rPr lang="en-US">
                <a:solidFill>
                  <a:schemeClr val="tx1"/>
                </a:solidFill>
                <a:ea typeface="+mn-lt"/>
                <a:cs typeface="+mn-lt"/>
              </a:rPr>
              <a:t> Blockchain for </a:t>
            </a:r>
            <a:r>
              <a:rPr lang="en-US" err="1">
                <a:solidFill>
                  <a:schemeClr val="tx1"/>
                </a:solidFill>
                <a:ea typeface="+mn-lt"/>
                <a:cs typeface="+mn-lt"/>
              </a:rPr>
              <a:t>SafeLAN</a:t>
            </a:r>
            <a:endParaRPr lang="en-US">
              <a:solidFill>
                <a:schemeClr val="tx1"/>
              </a:solidFill>
              <a:ea typeface="Cambria"/>
            </a:endParaRPr>
          </a:p>
          <a:p>
            <a:endParaRPr lang="en-US">
              <a:ea typeface="Cambria"/>
            </a:endParaRPr>
          </a:p>
          <a:p>
            <a:endParaRPr lang="en-US">
              <a:ea typeface="Cambria"/>
            </a:endParaRPr>
          </a:p>
          <a:p>
            <a:r>
              <a:rPr lang="en-US">
                <a:solidFill>
                  <a:schemeClr val="tx1"/>
                </a:solidFill>
              </a:rPr>
              <a:t>Specialization: Cyber Security </a:t>
            </a:r>
            <a:endParaRPr lang="en-US">
              <a:solidFill>
                <a:schemeClr val="tx1"/>
              </a:solidFill>
              <a:ea typeface="Cambria"/>
            </a:endParaRP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IT22892744</a:t>
            </a:r>
            <a:r>
              <a:rPr lang="en-US" sz="1800">
                <a:solidFill>
                  <a:schemeClr val="tx1"/>
                </a:solidFill>
              </a:rPr>
              <a:t> </a:t>
            </a:r>
            <a:r>
              <a:rPr lang="en-US" sz="1800" b="1">
                <a:solidFill>
                  <a:schemeClr val="tx1"/>
                </a:solidFill>
              </a:rPr>
              <a:t>  | </a:t>
            </a:r>
            <a:r>
              <a:rPr lang="en-US" b="1">
                <a:solidFill>
                  <a:schemeClr val="tx1"/>
                </a:solidFill>
              </a:rPr>
              <a:t>DIAS W P S </a:t>
            </a:r>
            <a:r>
              <a:rPr lang="en-US" sz="1800" b="1">
                <a:solidFill>
                  <a:schemeClr val="tx1"/>
                </a:solidFill>
              </a:rPr>
              <a:t>  | </a:t>
            </a:r>
            <a:r>
              <a:rPr lang="en-US" b="1">
                <a:solidFill>
                  <a:schemeClr val="tx1"/>
                </a:solidFill>
              </a:rPr>
              <a:t>25 – 26J - 067</a:t>
            </a:r>
            <a:endParaRPr lang="en-US" sz="1800" b="1">
              <a:solidFill>
                <a:schemeClr val="tx1"/>
              </a:solidFill>
            </a:endParaRPr>
          </a:p>
        </p:txBody>
      </p:sp>
      <p:sp>
        <p:nvSpPr>
          <p:cNvPr id="8" name="Rectangle 7" descr="A person with ponytail wearing a white shirt&#10;&#10;AI-generated content may be incorrect.">
            <a:extLst>
              <a:ext uri="{FF2B5EF4-FFF2-40B4-BE49-F238E27FC236}">
                <a16:creationId xmlns:a16="http://schemas.microsoft.com/office/drawing/2014/main" id="{6E070F7F-B7EA-1A5E-0C7F-E8F0430B961E}"/>
              </a:ext>
            </a:extLst>
          </p:cNvPr>
          <p:cNvSpPr/>
          <p:nvPr/>
        </p:nvSpPr>
        <p:spPr>
          <a:xfrm>
            <a:off x="10134600" y="152400"/>
            <a:ext cx="1981200" cy="2286000"/>
          </a:xfrm>
          <a:prstGeom prst="rect">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1088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55F57E-D690-D281-2E28-0418AFCF812B}"/>
              </a:ext>
            </a:extLst>
          </p:cNvPr>
          <p:cNvSpPr txBox="1"/>
          <p:nvPr/>
        </p:nvSpPr>
        <p:spPr>
          <a:xfrm>
            <a:off x="748606" y="0"/>
            <a:ext cx="10212347" cy="707886"/>
          </a:xfrm>
          <a:prstGeom prst="rect">
            <a:avLst/>
          </a:prstGeom>
          <a:noFill/>
        </p:spPr>
        <p:txBody>
          <a:bodyPr wrap="none" lIns="91440" tIns="45720" rIns="91440" bIns="45720" rtlCol="0" anchor="t">
            <a:spAutoFit/>
          </a:bodyPr>
          <a:lstStyle/>
          <a:p>
            <a:r>
              <a:rPr lang="en-US" sz="4000" b="1"/>
              <a:t>Dual-Visibility </a:t>
            </a:r>
            <a:r>
              <a:rPr lang="en-US" sz="4000" b="1" err="1"/>
              <a:t>PoA</a:t>
            </a:r>
            <a:r>
              <a:rPr lang="en-US" sz="4000" b="1"/>
              <a:t> Blockchain for </a:t>
            </a:r>
            <a:r>
              <a:rPr lang="en-US" sz="4000" b="1" err="1"/>
              <a:t>SafeLAN</a:t>
            </a:r>
            <a:endParaRPr lang="en-US" sz="4000" b="1">
              <a:ea typeface="Cambria"/>
            </a:endParaRPr>
          </a:p>
        </p:txBody>
      </p:sp>
      <p:sp>
        <p:nvSpPr>
          <p:cNvPr id="6" name="Rectangle 5">
            <a:extLst>
              <a:ext uri="{FF2B5EF4-FFF2-40B4-BE49-F238E27FC236}">
                <a16:creationId xmlns:a16="http://schemas.microsoft.com/office/drawing/2014/main" id="{560449F5-679B-AAE4-6F28-D50D45C3070A}"/>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800" b="1">
                <a:solidFill>
                  <a:schemeClr val="tx1"/>
                </a:solidFill>
              </a:rPr>
              <a:t>IT22892744</a:t>
            </a:r>
            <a:r>
              <a:rPr lang="en-US" sz="1800">
                <a:solidFill>
                  <a:schemeClr val="tx1"/>
                </a:solidFill>
              </a:rPr>
              <a:t> </a:t>
            </a:r>
            <a:r>
              <a:rPr lang="en-US" sz="1800" b="1">
                <a:solidFill>
                  <a:schemeClr val="tx1"/>
                </a:solidFill>
              </a:rPr>
              <a:t>  |   Dias W P S  |   25 – 26J - 067</a:t>
            </a:r>
          </a:p>
        </p:txBody>
      </p:sp>
      <p:sp>
        <p:nvSpPr>
          <p:cNvPr id="8" name="TextBox 7">
            <a:extLst>
              <a:ext uri="{FF2B5EF4-FFF2-40B4-BE49-F238E27FC236}">
                <a16:creationId xmlns:a16="http://schemas.microsoft.com/office/drawing/2014/main" id="{B13A1E6A-B496-26DC-5401-58A3055D1952}"/>
              </a:ext>
            </a:extLst>
          </p:cNvPr>
          <p:cNvSpPr txBox="1"/>
          <p:nvPr/>
        </p:nvSpPr>
        <p:spPr>
          <a:xfrm>
            <a:off x="748606" y="1123649"/>
            <a:ext cx="10365708" cy="2246769"/>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rtlCol="0" anchor="t">
            <a:spAutoFit/>
          </a:bodyPr>
          <a:lstStyle/>
          <a:p>
            <a:r>
              <a:rPr lang="en-US" sz="2000">
                <a:ea typeface="+mn-lt"/>
                <a:cs typeface="+mn-lt"/>
              </a:rPr>
              <a:t>Traditional audit logs in LAN-based file systems are stored centrally and can be easily tampered with,  deleted, or fabricated by administrators or attackers. This lack of immutability and transparency undermines accountability, making forensic investigations unreliable. Current logging systems cannot prevent insider threats from manipulating access records, leading to security vulnerabilities in organizations that operate without internet connectivity, where centralized identity services and real-time external verification are unavailable.</a:t>
            </a:r>
            <a:endParaRPr lang="en-US" sz="2000"/>
          </a:p>
        </p:txBody>
      </p:sp>
      <p:sp>
        <p:nvSpPr>
          <p:cNvPr id="2" name="TextBox 1">
            <a:extLst>
              <a:ext uri="{FF2B5EF4-FFF2-40B4-BE49-F238E27FC236}">
                <a16:creationId xmlns:a16="http://schemas.microsoft.com/office/drawing/2014/main" id="{1997D500-D2C6-D8AF-C475-3FA926AE8FE7}"/>
              </a:ext>
            </a:extLst>
          </p:cNvPr>
          <p:cNvSpPr txBox="1"/>
          <p:nvPr/>
        </p:nvSpPr>
        <p:spPr>
          <a:xfrm>
            <a:off x="748605" y="3621766"/>
            <a:ext cx="10365708" cy="2145268"/>
          </a:xfrm>
          <a:prstGeom prst="round2Diag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rtlCol="0" anchor="t">
            <a:spAutoFit/>
          </a:bodyPr>
          <a:lstStyle/>
          <a:p>
            <a:r>
              <a:rPr lang="en-US" sz="2000" b="1">
                <a:solidFill>
                  <a:srgbClr val="383A42"/>
                </a:solidFill>
                <a:highlight>
                  <a:srgbClr val="FFFFFF"/>
                </a:highlight>
                <a:ea typeface="+mn-lt"/>
                <a:cs typeface="+mn-lt"/>
              </a:rPr>
              <a:t>User Requirements Addressed: </a:t>
            </a:r>
            <a:endParaRPr lang="en-US" sz="2000" b="1">
              <a:solidFill>
                <a:srgbClr val="000000"/>
              </a:solidFill>
              <a:ea typeface="+mn-lt"/>
              <a:cs typeface="+mn-lt"/>
            </a:endParaRPr>
          </a:p>
          <a:p>
            <a:r>
              <a:rPr lang="en-US" sz="2000">
                <a:solidFill>
                  <a:srgbClr val="383A42"/>
                </a:solidFill>
                <a:highlight>
                  <a:srgbClr val="FFFFFF"/>
                </a:highlight>
                <a:ea typeface="+mn-lt"/>
                <a:cs typeface="+mn-lt"/>
              </a:rPr>
              <a:t>• Immutability: Ensures audit logs cannot be altered or deleted, even by administrators. </a:t>
            </a:r>
            <a:endParaRPr lang="en-US" sz="2000">
              <a:solidFill>
                <a:srgbClr val="000000"/>
              </a:solidFill>
              <a:ea typeface="+mn-lt"/>
              <a:cs typeface="+mn-lt"/>
            </a:endParaRPr>
          </a:p>
          <a:p>
            <a:r>
              <a:rPr lang="en-US" sz="2000">
                <a:solidFill>
                  <a:srgbClr val="383A42"/>
                </a:solidFill>
                <a:highlight>
                  <a:srgbClr val="FFFFFF"/>
                </a:highlight>
                <a:ea typeface="+mn-lt"/>
                <a:cs typeface="+mn-lt"/>
              </a:rPr>
              <a:t>• Transparency: Both file owners and receivers can independently verify file access events.  </a:t>
            </a:r>
            <a:endParaRPr lang="en-US" sz="2000">
              <a:solidFill>
                <a:srgbClr val="000000"/>
              </a:solidFill>
              <a:ea typeface="+mn-lt"/>
              <a:cs typeface="+mn-lt"/>
            </a:endParaRPr>
          </a:p>
          <a:p>
            <a:r>
              <a:rPr lang="en-US" sz="2000">
                <a:solidFill>
                  <a:srgbClr val="383A42"/>
                </a:solidFill>
                <a:highlight>
                  <a:srgbClr val="FFFFFF"/>
                </a:highlight>
                <a:ea typeface="+mn-lt"/>
                <a:cs typeface="+mn-lt"/>
              </a:rPr>
              <a:t>• Offline Operation: Works entirely within the LAN without internet dependency. </a:t>
            </a:r>
            <a:endParaRPr lang="en-US" sz="2000">
              <a:solidFill>
                <a:srgbClr val="000000"/>
              </a:solidFill>
              <a:ea typeface="+mn-lt"/>
              <a:cs typeface="+mn-lt"/>
            </a:endParaRPr>
          </a:p>
          <a:p>
            <a:r>
              <a:rPr lang="en-US" sz="2000">
                <a:solidFill>
                  <a:srgbClr val="383A42"/>
                </a:solidFill>
                <a:highlight>
                  <a:srgbClr val="FFFFFF"/>
                </a:highlight>
                <a:ea typeface="+mn-lt"/>
                <a:cs typeface="+mn-lt"/>
              </a:rPr>
              <a:t>• Dual Visibility: Standard users see only their own logs; administrators see all logs for audit purposes. </a:t>
            </a:r>
            <a:endParaRPr lang="en-US" sz="2000">
              <a:ea typeface="Cambria"/>
            </a:endParaRPr>
          </a:p>
        </p:txBody>
      </p:sp>
    </p:spTree>
    <p:extLst>
      <p:ext uri="{BB962C8B-B14F-4D97-AF65-F5344CB8AC3E}">
        <p14:creationId xmlns:p14="http://schemas.microsoft.com/office/powerpoint/2010/main" val="322308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34ED-14A4-B38F-81B3-4A017E95AE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3B375E-786E-E6D2-8FFA-555B7B6166FB}"/>
              </a:ext>
            </a:extLst>
          </p:cNvPr>
          <p:cNvSpPr txBox="1"/>
          <p:nvPr/>
        </p:nvSpPr>
        <p:spPr>
          <a:xfrm>
            <a:off x="748606" y="0"/>
            <a:ext cx="10212347" cy="707886"/>
          </a:xfrm>
          <a:prstGeom prst="rect">
            <a:avLst/>
          </a:prstGeom>
          <a:noFill/>
        </p:spPr>
        <p:txBody>
          <a:bodyPr wrap="none" lIns="91440" tIns="45720" rIns="91440" bIns="45720" rtlCol="0" anchor="t">
            <a:spAutoFit/>
          </a:bodyPr>
          <a:lstStyle/>
          <a:p>
            <a:r>
              <a:rPr lang="en-US" sz="4000" b="1"/>
              <a:t>Dual-Visibility </a:t>
            </a:r>
            <a:r>
              <a:rPr lang="en-US" sz="4000" b="1" err="1"/>
              <a:t>PoA</a:t>
            </a:r>
            <a:r>
              <a:rPr lang="en-US" sz="4000" b="1"/>
              <a:t> Blockchain for </a:t>
            </a:r>
            <a:r>
              <a:rPr lang="en-US" sz="4000" b="1" err="1"/>
              <a:t>SafeLAN</a:t>
            </a:r>
            <a:endParaRPr lang="en-US" err="1"/>
          </a:p>
        </p:txBody>
      </p:sp>
      <p:sp>
        <p:nvSpPr>
          <p:cNvPr id="6" name="Rectangle 5">
            <a:extLst>
              <a:ext uri="{FF2B5EF4-FFF2-40B4-BE49-F238E27FC236}">
                <a16:creationId xmlns:a16="http://schemas.microsoft.com/office/drawing/2014/main" id="{75B6C384-03FE-C332-679F-B64BC9509068}"/>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IT22892744</a:t>
            </a:r>
            <a:r>
              <a:rPr lang="en-US" sz="1800">
                <a:solidFill>
                  <a:schemeClr val="tx1"/>
                </a:solidFill>
              </a:rPr>
              <a:t>   |   Dias W P S  |   </a:t>
            </a:r>
            <a:r>
              <a:rPr lang="en-US" sz="1800" b="0">
                <a:solidFill>
                  <a:schemeClr val="tx1"/>
                </a:solidFill>
              </a:rPr>
              <a:t>25 – 26J - 067</a:t>
            </a:r>
          </a:p>
        </p:txBody>
      </p:sp>
      <p:sp>
        <p:nvSpPr>
          <p:cNvPr id="2" name="TextBox 1">
            <a:extLst>
              <a:ext uri="{FF2B5EF4-FFF2-40B4-BE49-F238E27FC236}">
                <a16:creationId xmlns:a16="http://schemas.microsoft.com/office/drawing/2014/main" id="{0D0C0791-D1BB-7AA9-7858-1AB29D6AC09F}"/>
              </a:ext>
            </a:extLst>
          </p:cNvPr>
          <p:cNvSpPr txBox="1"/>
          <p:nvPr/>
        </p:nvSpPr>
        <p:spPr>
          <a:xfrm>
            <a:off x="1257905" y="731763"/>
            <a:ext cx="10196285" cy="5209937"/>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383A42"/>
                </a:solidFill>
                <a:highlight>
                  <a:srgbClr val="FFFFFF"/>
                </a:highlight>
                <a:ea typeface="+mn-lt"/>
                <a:cs typeface="+mn-lt"/>
              </a:rPr>
              <a:t>Design Excellence / Contribution</a:t>
            </a:r>
            <a:endParaRPr lang="en-US" sz="2000" b="1">
              <a:solidFill>
                <a:srgbClr val="000000"/>
              </a:solidFill>
              <a:latin typeface="Cambria"/>
              <a:ea typeface="Cambria"/>
              <a:cs typeface="+mn-lt"/>
            </a:endParaRPr>
          </a:p>
          <a:p>
            <a:endParaRPr lang="en-US" sz="2000" b="1">
              <a:solidFill>
                <a:srgbClr val="383A42"/>
              </a:solidFill>
              <a:highlight>
                <a:srgbClr val="FFFFFF"/>
              </a:highlight>
              <a:latin typeface="Cambria"/>
              <a:ea typeface="Cambria"/>
              <a:cs typeface="jetbrains"/>
            </a:endParaRPr>
          </a:p>
          <a:p>
            <a:r>
              <a:rPr lang="en-US" sz="2000">
                <a:solidFill>
                  <a:srgbClr val="383A42"/>
                </a:solidFill>
                <a:latin typeface="Cambria"/>
                <a:ea typeface="jetbrains"/>
                <a:cs typeface="jetbrains"/>
              </a:rPr>
              <a:t>• </a:t>
            </a:r>
            <a:r>
              <a:rPr lang="en-US" sz="2000" b="1">
                <a:solidFill>
                  <a:srgbClr val="383A42"/>
                </a:solidFill>
                <a:latin typeface="Cambria"/>
                <a:ea typeface="jetbrains"/>
                <a:cs typeface="jetbrains"/>
              </a:rPr>
              <a:t>Uses Proof of Authority (</a:t>
            </a:r>
            <a:r>
              <a:rPr lang="en-US" sz="2000" b="1" err="1">
                <a:solidFill>
                  <a:srgbClr val="383A42"/>
                </a:solidFill>
                <a:latin typeface="Cambria"/>
                <a:ea typeface="jetbrains"/>
                <a:cs typeface="jetbrains"/>
              </a:rPr>
              <a:t>PoA</a:t>
            </a:r>
            <a:r>
              <a:rPr lang="en-US" sz="2000" b="1">
                <a:solidFill>
                  <a:srgbClr val="383A42"/>
                </a:solidFill>
                <a:latin typeface="Cambria"/>
                <a:ea typeface="jetbrains"/>
                <a:cs typeface="jetbrains"/>
              </a:rPr>
              <a:t>)</a:t>
            </a:r>
            <a:r>
              <a:rPr lang="en-US" sz="2000">
                <a:solidFill>
                  <a:srgbClr val="383A42"/>
                </a:solidFill>
                <a:latin typeface="Cambria"/>
                <a:ea typeface="jetbrains"/>
                <a:cs typeface="jetbrains"/>
              </a:rPr>
              <a:t> consensus, which is efficient for private LAN networks where validators are pre-approved trusted nodes, eliminating energy-intensive mining. </a:t>
            </a:r>
            <a:endParaRPr lang="en-US" sz="2000">
              <a:solidFill>
                <a:srgbClr val="000000"/>
              </a:solidFill>
              <a:latin typeface="Cambria"/>
              <a:ea typeface="Cambria"/>
              <a:cs typeface="jetbrains"/>
            </a:endParaRPr>
          </a:p>
          <a:p>
            <a:r>
              <a:rPr lang="en-US" sz="2000">
                <a:solidFill>
                  <a:srgbClr val="383A42"/>
                </a:solidFill>
                <a:latin typeface="Cambria"/>
                <a:ea typeface="jetbrains"/>
                <a:cs typeface="jetbrains"/>
              </a:rPr>
              <a:t>• </a:t>
            </a:r>
            <a:r>
              <a:rPr lang="en-US" sz="2000" b="1">
                <a:solidFill>
                  <a:srgbClr val="383A42"/>
                </a:solidFill>
                <a:latin typeface="Cambria"/>
                <a:ea typeface="jetbrains"/>
                <a:cs typeface="jetbrains"/>
              </a:rPr>
              <a:t>Implements transaction batching</a:t>
            </a:r>
            <a:r>
              <a:rPr lang="en-US" sz="2000">
                <a:solidFill>
                  <a:srgbClr val="383A42"/>
                </a:solidFill>
                <a:latin typeface="Cambria"/>
                <a:ea typeface="jetbrains"/>
                <a:cs typeface="jetbrains"/>
              </a:rPr>
              <a:t>, collecting up to 50 transactions before creating a block, reducing blockchain bloat by 50-100x and improving query performance by 100x.</a:t>
            </a:r>
            <a:endParaRPr lang="en-US" sz="2000">
              <a:solidFill>
                <a:srgbClr val="000000"/>
              </a:solidFill>
              <a:latin typeface="Cambria"/>
              <a:ea typeface="Cambria"/>
              <a:cs typeface="jetbrains"/>
            </a:endParaRPr>
          </a:p>
          <a:p>
            <a:r>
              <a:rPr lang="en-US" sz="2000">
                <a:solidFill>
                  <a:srgbClr val="383A42"/>
                </a:solidFill>
                <a:latin typeface="Cambria"/>
                <a:ea typeface="jetbrains"/>
                <a:cs typeface="jetbrains"/>
              </a:rPr>
              <a:t>• Integrates </a:t>
            </a:r>
            <a:r>
              <a:rPr lang="en-US" sz="2000" b="1">
                <a:solidFill>
                  <a:srgbClr val="383A42"/>
                </a:solidFill>
                <a:latin typeface="Cambria"/>
                <a:ea typeface="jetbrains"/>
                <a:cs typeface="jetbrains"/>
              </a:rPr>
              <a:t>Merkle trees</a:t>
            </a:r>
            <a:r>
              <a:rPr lang="en-US" sz="2000">
                <a:solidFill>
                  <a:srgbClr val="383A42"/>
                </a:solidFill>
                <a:latin typeface="Cambria"/>
                <a:ea typeface="jetbrains"/>
                <a:cs typeface="jetbrains"/>
              </a:rPr>
              <a:t> for efficient O(log n)  transaction verification instead of O(n), enabling cryptographic proof without checking all transactions. </a:t>
            </a:r>
            <a:endParaRPr lang="en-US" sz="2000">
              <a:solidFill>
                <a:srgbClr val="000000"/>
              </a:solidFill>
              <a:latin typeface="Cambria"/>
              <a:ea typeface="Cambria"/>
              <a:cs typeface="jetbrains"/>
            </a:endParaRPr>
          </a:p>
          <a:p>
            <a:r>
              <a:rPr lang="en-US" sz="2000">
                <a:solidFill>
                  <a:srgbClr val="383A42"/>
                </a:solidFill>
                <a:latin typeface="Cambria"/>
                <a:ea typeface="jetbrains"/>
                <a:cs typeface="jetbrains"/>
              </a:rPr>
              <a:t>• Employs a permissioned blockchain architecture with </a:t>
            </a:r>
            <a:r>
              <a:rPr lang="en-US" sz="2000" b="1">
                <a:solidFill>
                  <a:srgbClr val="383A42"/>
                </a:solidFill>
                <a:latin typeface="Cambria"/>
                <a:ea typeface="jetbrains"/>
                <a:cs typeface="jetbrains"/>
              </a:rPr>
              <a:t>dual-visibility </a:t>
            </a:r>
            <a:r>
              <a:rPr lang="en-US" sz="2000">
                <a:solidFill>
                  <a:srgbClr val="383A42"/>
                </a:solidFill>
                <a:latin typeface="Cambria"/>
                <a:ea typeface="jetbrains"/>
                <a:cs typeface="jetbrains"/>
              </a:rPr>
              <a:t>access control, where administrators audit all events while users view only their own transaction history. </a:t>
            </a:r>
            <a:endParaRPr lang="en-US" sz="2000">
              <a:solidFill>
                <a:srgbClr val="000000"/>
              </a:solidFill>
              <a:latin typeface="Cambria"/>
              <a:ea typeface="Cambria"/>
              <a:cs typeface="jetbrains"/>
            </a:endParaRPr>
          </a:p>
          <a:p>
            <a:r>
              <a:rPr lang="en-US" sz="2000">
                <a:solidFill>
                  <a:srgbClr val="383A42"/>
                </a:solidFill>
                <a:latin typeface="Cambria"/>
                <a:ea typeface="jetbrains"/>
                <a:cs typeface="jetbrains"/>
              </a:rPr>
              <a:t>• The design enables </a:t>
            </a:r>
            <a:r>
              <a:rPr lang="en-US" sz="2000" b="1">
                <a:solidFill>
                  <a:srgbClr val="383A42"/>
                </a:solidFill>
                <a:latin typeface="Cambria"/>
                <a:ea typeface="jetbrains"/>
                <a:cs typeface="jetbrains"/>
              </a:rPr>
              <a:t>smart contract</a:t>
            </a:r>
            <a:r>
              <a:rPr lang="en-US" sz="2000">
                <a:solidFill>
                  <a:srgbClr val="383A42"/>
                </a:solidFill>
                <a:latin typeface="Cambria"/>
                <a:ea typeface="jetbrains"/>
                <a:cs typeface="jetbrains"/>
              </a:rPr>
              <a:t> validation to enforce role-based permissions, ownership rules, and security policies(time restrictions, rate limiting) before blockchain entry. </a:t>
            </a:r>
            <a:endParaRPr lang="en-US" sz="2000">
              <a:latin typeface="Cambria"/>
              <a:ea typeface="Cambria"/>
            </a:endParaRPr>
          </a:p>
        </p:txBody>
      </p:sp>
    </p:spTree>
    <p:extLst>
      <p:ext uri="{BB962C8B-B14F-4D97-AF65-F5344CB8AC3E}">
        <p14:creationId xmlns:p14="http://schemas.microsoft.com/office/powerpoint/2010/main" val="136632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D25CF-FD72-C0CD-0375-ED8A6E340749}"/>
              </a:ext>
            </a:extLst>
          </p:cNvPr>
          <p:cNvSpPr>
            <a:spLocks noGrp="1"/>
          </p:cNvSpPr>
          <p:nvPr>
            <p:ph type="title"/>
          </p:nvPr>
        </p:nvSpPr>
        <p:spPr>
          <a:xfrm>
            <a:off x="248771" y="304800"/>
            <a:ext cx="11684000" cy="792162"/>
          </a:xfrm>
        </p:spPr>
        <p:txBody>
          <a:bodyPr>
            <a:normAutofit fontScale="90000"/>
          </a:bodyPr>
          <a:lstStyle/>
          <a:p>
            <a:r>
              <a:rPr lang="en-US" err="1">
                <a:latin typeface="Adobe Devanagari"/>
              </a:rPr>
              <a:t>SafeLAN</a:t>
            </a:r>
            <a:r>
              <a:rPr lang="en-US">
                <a:latin typeface="Adobe Devanagari"/>
              </a:rPr>
              <a:t>: Adaptive Secure File System for LAN environment</a:t>
            </a:r>
            <a:endParaRPr lang="en-GB"/>
          </a:p>
        </p:txBody>
      </p:sp>
      <p:sp>
        <p:nvSpPr>
          <p:cNvPr id="3" name="Content Placeholder 2">
            <a:extLst>
              <a:ext uri="{FF2B5EF4-FFF2-40B4-BE49-F238E27FC236}">
                <a16:creationId xmlns:a16="http://schemas.microsoft.com/office/drawing/2014/main" id="{08B37652-8E7B-2595-5821-D14B20B2A955}"/>
              </a:ext>
            </a:extLst>
          </p:cNvPr>
          <p:cNvSpPr>
            <a:spLocks noGrp="1"/>
          </p:cNvSpPr>
          <p:nvPr>
            <p:ph idx="1"/>
          </p:nvPr>
        </p:nvSpPr>
        <p:spPr>
          <a:xfrm>
            <a:off x="259977" y="1994647"/>
            <a:ext cx="11684000" cy="4072218"/>
          </a:xfrm>
        </p:spPr>
        <p:txBody>
          <a:bodyPr vert="horz" lIns="91440" tIns="45720" rIns="91440" bIns="45720" rtlCol="0" anchor="t">
            <a:normAutofit/>
          </a:bodyPr>
          <a:lstStyle/>
          <a:p>
            <a:r>
              <a:rPr lang="en-GB">
                <a:ea typeface="Cambria"/>
              </a:rPr>
              <a:t>Target Marketplace : Small to Medium scaled organizations.</a:t>
            </a:r>
          </a:p>
          <a:p>
            <a:r>
              <a:rPr lang="en-GB">
                <a:ea typeface="Cambria"/>
              </a:rPr>
              <a:t>Uniqueness: Various security implementations in LAN environment.</a:t>
            </a:r>
          </a:p>
          <a:p>
            <a:endParaRPr lang="en-GB">
              <a:ea typeface="Cambria"/>
            </a:endParaRPr>
          </a:p>
          <a:p>
            <a:endParaRPr lang="en-GB">
              <a:ea typeface="Cambria"/>
            </a:endParaRPr>
          </a:p>
          <a:p>
            <a:endParaRPr lang="en-GB">
              <a:ea typeface="Cambria"/>
            </a:endParaRPr>
          </a:p>
          <a:p>
            <a:endParaRPr lang="en-GB">
              <a:ea typeface="Cambria"/>
            </a:endParaRPr>
          </a:p>
          <a:p>
            <a:endParaRPr lang="en-GB">
              <a:ea typeface="Cambria"/>
            </a:endParaRPr>
          </a:p>
          <a:p>
            <a:endParaRPr lang="en-GB">
              <a:ea typeface="Cambria"/>
            </a:endParaRPr>
          </a:p>
          <a:p>
            <a:endParaRPr lang="en-GB">
              <a:ea typeface="Cambria"/>
            </a:endParaRPr>
          </a:p>
        </p:txBody>
      </p:sp>
    </p:spTree>
    <p:extLst>
      <p:ext uri="{BB962C8B-B14F-4D97-AF65-F5344CB8AC3E}">
        <p14:creationId xmlns:p14="http://schemas.microsoft.com/office/powerpoint/2010/main" val="1242871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609B-7291-E117-E39E-64D44635231F}"/>
            </a:ext>
          </a:extLst>
        </p:cNvPr>
        <p:cNvGrpSpPr/>
        <p:nvPr/>
      </p:nvGrpSpPr>
      <p:grpSpPr>
        <a:xfrm>
          <a:off x="0" y="0"/>
          <a:ext cx="0" cy="0"/>
          <a:chOff x="0" y="0"/>
          <a:chExt cx="0" cy="0"/>
        </a:xfrm>
      </p:grpSpPr>
      <p:pic>
        <p:nvPicPr>
          <p:cNvPr id="2" name="Picture 1" descr="A white rectangular sign with blue text&#10;&#10;AI-generated content may be incorrect.">
            <a:extLst>
              <a:ext uri="{FF2B5EF4-FFF2-40B4-BE49-F238E27FC236}">
                <a16:creationId xmlns:a16="http://schemas.microsoft.com/office/drawing/2014/main" id="{8CE278F3-A94A-B303-FCB9-8D879CC28B73}"/>
              </a:ext>
            </a:extLst>
          </p:cNvPr>
          <p:cNvPicPr>
            <a:picLocks noChangeAspect="1"/>
          </p:cNvPicPr>
          <p:nvPr/>
        </p:nvPicPr>
        <p:blipFill>
          <a:blip r:embed="rId2"/>
          <a:stretch>
            <a:fillRect/>
          </a:stretch>
        </p:blipFill>
        <p:spPr>
          <a:xfrm>
            <a:off x="2119667" y="1056190"/>
            <a:ext cx="7890291" cy="4438892"/>
          </a:xfrm>
          <a:prstGeom prst="rect">
            <a:avLst/>
          </a:prstGeom>
          <a:noFill/>
        </p:spPr>
      </p:pic>
    </p:spTree>
    <p:extLst>
      <p:ext uri="{BB962C8B-B14F-4D97-AF65-F5344CB8AC3E}">
        <p14:creationId xmlns:p14="http://schemas.microsoft.com/office/powerpoint/2010/main" val="1375304992"/>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faca268-e3b2-4935-9488-571ad382c36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4FCAD72F4CCFB45A09406EB35919E92" ma:contentTypeVersion="15" ma:contentTypeDescription="Create a new document." ma:contentTypeScope="" ma:versionID="e4bcaddd2a23b64f764f5760b54e7c33">
  <xsd:schema xmlns:xsd="http://www.w3.org/2001/XMLSchema" xmlns:xs="http://www.w3.org/2001/XMLSchema" xmlns:p="http://schemas.microsoft.com/office/2006/metadata/properties" xmlns:ns3="afaca268-e3b2-4935-9488-571ad382c364" xmlns:ns4="162a7144-2f0e-4714-bb73-c0ccd69df26f" targetNamespace="http://schemas.microsoft.com/office/2006/metadata/properties" ma:root="true" ma:fieldsID="e487154ff8d93d8ec3a85638b30a3dc1" ns3:_="" ns4:_="">
    <xsd:import namespace="afaca268-e3b2-4935-9488-571ad382c364"/>
    <xsd:import namespace="162a7144-2f0e-4714-bb73-c0ccd69df26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aca268-e3b2-4935-9488-571ad382c3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2a7144-2f0e-4714-bb73-c0ccd69df26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277F76-1780-466B-A13A-E95E5A6AC9C1}">
  <ds:schemaRefs>
    <ds:schemaRef ds:uri="162a7144-2f0e-4714-bb73-c0ccd69df26f"/>
    <ds:schemaRef ds:uri="afaca268-e3b2-4935-9488-571ad382c36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EECDA20-4C66-4D08-91EB-782EF44CEB6E}">
  <ds:schemaRefs>
    <ds:schemaRef ds:uri="http://schemas.microsoft.com/sharepoint/v3/contenttype/forms"/>
  </ds:schemaRefs>
</ds:datastoreItem>
</file>

<file path=customXml/itemProps3.xml><?xml version="1.0" encoding="utf-8"?>
<ds:datastoreItem xmlns:ds="http://schemas.openxmlformats.org/officeDocument/2006/customXml" ds:itemID="{E423E749-0000-4E2E-AFAE-F0375B942D85}">
  <ds:schemaRefs>
    <ds:schemaRef ds:uri="162a7144-2f0e-4714-bb73-c0ccd69df26f"/>
    <ds:schemaRef ds:uri="afaca268-e3b2-4935-9488-571ad382c36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Proposal-Presentation-Template</Template>
  <Application>Microsoft Office PowerPoint</Application>
  <PresentationFormat>Widescreen</PresentationFormat>
  <Slides>19</Slides>
  <Notes>3</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SafeLAN: Adaptive Secure File System for LAN environment</vt:lpstr>
      <vt:lpstr>Introduction</vt:lpstr>
      <vt:lpstr>Research Objectives</vt:lpstr>
      <vt:lpstr>IT22328298 | Waidyarathne u h a p g</vt:lpstr>
      <vt:lpstr>Behavioural Biometrics-Based Adaptive Authentication Module for SafeLAN</vt:lpstr>
      <vt:lpstr>Behavioural Biometrics-Based Adaptive Authentication Module for SafeLAN</vt:lpstr>
      <vt:lpstr>Behavioural Biometrics-Based Adaptive Authentication Module for SafeLAN</vt:lpstr>
      <vt:lpstr>Behavioural Biometrics-Based Adaptive Authentication Module for SafeLAN</vt:lpstr>
      <vt:lpstr>Behavior Anomaly Detection using Machine Learning to Ensure Continuous Authentication</vt:lpstr>
      <vt:lpstr>Behavior Anomaly Detection using Machine Learning to Ensure Continuous Authentication </vt:lpstr>
      <vt:lpstr>Behavior Anomaly Detection using Machine Learning to Ensure Continuous Authentication </vt:lpstr>
      <vt:lpstr>IT22323002 | HIRIMUTHUGDODA N A</vt:lpstr>
      <vt:lpstr>Secure file viewing with a new  biometric to lockdown browser </vt:lpstr>
      <vt:lpstr>Secure file viewing with a new  biometric to lockdown browser  </vt:lpstr>
      <vt:lpstr>IT22892744 | Dias w p s</vt:lpstr>
      <vt:lpstr>PowerPoint Presentation</vt:lpstr>
      <vt:lpstr>PowerPoint Presentation</vt:lpstr>
      <vt:lpstr>SafeLAN: Adaptive Secure File System for LAN environment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HIRIMUTHUGODA N A it22323002</dc:creator>
  <cp:revision>2</cp:revision>
  <dcterms:created xsi:type="dcterms:W3CDTF">2025-09-08T16:09:34Z</dcterms:created>
  <dcterms:modified xsi:type="dcterms:W3CDTF">2026-01-31T06:46:33Z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0x010100B4FCAD72F4CCFB45A09406EB35919E92</vt:lpwstr>
  </property>
</Properties>
</file>